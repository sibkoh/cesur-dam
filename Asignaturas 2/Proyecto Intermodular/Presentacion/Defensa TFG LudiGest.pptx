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Inter"/>
      <p:regular r:id="rId20"/>
      <p:bold r:id="rId21"/>
      <p:italic r:id="rId22"/>
      <p:boldItalic r:id="rId23"/>
    </p:embeddedFont>
    <p:embeddedFont>
      <p:font typeface="Poppi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regular.fntdata"/><Relationship Id="rId22" Type="http://schemas.openxmlformats.org/officeDocument/2006/relationships/font" Target="fonts/Inter-italic.fntdata"/><Relationship Id="rId21" Type="http://schemas.openxmlformats.org/officeDocument/2006/relationships/font" Target="fonts/Inter-bold.fntdata"/><Relationship Id="rId24" Type="http://schemas.openxmlformats.org/officeDocument/2006/relationships/font" Target="fonts/Poppins-regular.fntdata"/><Relationship Id="rId23" Type="http://schemas.openxmlformats.org/officeDocument/2006/relationships/font" Target="fonts/Inter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-italic.fntdata"/><Relationship Id="rId25" Type="http://schemas.openxmlformats.org/officeDocument/2006/relationships/font" Target="fonts/Poppins-bold.fntdata"/><Relationship Id="rId27" Type="http://schemas.openxmlformats.org/officeDocument/2006/relationships/font" Target="fonts/Poppi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9" Type="http://schemas.openxmlformats.org/officeDocument/2006/relationships/image" Target="../media/image29.png"/><Relationship Id="rId5" Type="http://schemas.openxmlformats.org/officeDocument/2006/relationships/image" Target="../media/image11.png"/><Relationship Id="rId6" Type="http://schemas.openxmlformats.org/officeDocument/2006/relationships/image" Target="../media/image16.png"/><Relationship Id="rId7" Type="http://schemas.openxmlformats.org/officeDocument/2006/relationships/image" Target="../media/image13.png"/><Relationship Id="rId8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27.png"/><Relationship Id="rId7" Type="http://schemas.openxmlformats.org/officeDocument/2006/relationships/image" Target="../media/image4.png"/><Relationship Id="rId8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6.png"/><Relationship Id="rId5" Type="http://schemas.openxmlformats.org/officeDocument/2006/relationships/image" Target="../media/image12.png"/><Relationship Id="rId6" Type="http://schemas.openxmlformats.org/officeDocument/2006/relationships/image" Target="../media/image5.png"/><Relationship Id="rId7" Type="http://schemas.openxmlformats.org/officeDocument/2006/relationships/image" Target="../media/image15.png"/><Relationship Id="rId8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9.png"/><Relationship Id="rId5" Type="http://schemas.openxmlformats.org/officeDocument/2006/relationships/image" Target="../media/image10.png"/><Relationship Id="rId6" Type="http://schemas.openxmlformats.org/officeDocument/2006/relationships/image" Target="../media/image21.png"/><Relationship Id="rId7" Type="http://schemas.openxmlformats.org/officeDocument/2006/relationships/image" Target="../media/image7.png"/><Relationship Id="rId8" Type="http://schemas.openxmlformats.org/officeDocument/2006/relationships/image" Target="../media/image2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9" Type="http://schemas.openxmlformats.org/officeDocument/2006/relationships/image" Target="../media/image38.png"/><Relationship Id="rId5" Type="http://schemas.openxmlformats.org/officeDocument/2006/relationships/image" Target="../media/image11.png"/><Relationship Id="rId6" Type="http://schemas.openxmlformats.org/officeDocument/2006/relationships/image" Target="../media/image32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7.png"/><Relationship Id="rId4" Type="http://schemas.openxmlformats.org/officeDocument/2006/relationships/image" Target="../media/image17.png"/><Relationship Id="rId5" Type="http://schemas.openxmlformats.org/officeDocument/2006/relationships/image" Target="../media/image3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10" Type="http://schemas.openxmlformats.org/officeDocument/2006/relationships/image" Target="../media/image46.png"/><Relationship Id="rId9" Type="http://schemas.openxmlformats.org/officeDocument/2006/relationships/image" Target="../media/image31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40.png"/><Relationship Id="rId8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42.png"/><Relationship Id="rId9" Type="http://schemas.openxmlformats.org/officeDocument/2006/relationships/image" Target="../media/image35.png"/><Relationship Id="rId5" Type="http://schemas.openxmlformats.org/officeDocument/2006/relationships/image" Target="../media/image45.png"/><Relationship Id="rId6" Type="http://schemas.openxmlformats.org/officeDocument/2006/relationships/image" Target="../media/image41.png"/><Relationship Id="rId7" Type="http://schemas.openxmlformats.org/officeDocument/2006/relationships/image" Target="../media/image44.png"/><Relationship Id="rId8" Type="http://schemas.openxmlformats.org/officeDocument/2006/relationships/image" Target="../media/image3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2712690"/>
            <a:ext cx="1104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Desarrollo de Aplicaciones Multiplataforma | 11 de Mayo de 2026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Defensa de Proyecto de Fin de Ciclo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95275" y="571500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LudiGest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1905000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Sistema Integral para la Gestión de Ludotecas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02406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71500" y="6410325"/>
            <a:ext cx="14954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LudiGest - Defensa TFG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858375" y="6410325"/>
            <a:ext cx="17621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Desarrollo e Implementación</a:t>
            </a:r>
            <a:endParaRPr/>
          </a:p>
        </p:txBody>
      </p:sp>
      <p:pic>
        <p:nvPicPr>
          <p:cNvPr descr="image.png" id="97" name="Google Shape;9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91275" y="2033587"/>
            <a:ext cx="5219700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967162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462462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4957762"/>
            <a:ext cx="2667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VISIÓN DEL PROYECTO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571500" y="2447925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Adiós al caos en Excel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571500" y="2724150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Las asociaciones de juegos de mesa sufren para gestionar inventarios crecientes, préstamos manuales y datos inconsistentes.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952500" y="3924300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Automatización: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Importación directa desde BGG API.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952500" y="4419600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Escalabilidad: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De 10 a 1000 juegos sin fricción.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952500" y="4914900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Reactividad: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Búsqueda inteligente para socios.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/>
          <p:nvPr/>
        </p:nvSpPr>
        <p:spPr>
          <a:xfrm>
            <a:off x="5619750" y="857250"/>
            <a:ext cx="9525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295275" y="1181100"/>
            <a:ext cx="11601450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Diseño y Arquitectura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571500" y="219075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Construyendo un sistema desacoplado y robusto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024062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134766"/>
            <a:ext cx="5238750" cy="12686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593877"/>
            <a:ext cx="5238750" cy="102483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571500" y="6410325"/>
            <a:ext cx="14668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LudiGest - Arquitectura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10763250" y="6410325"/>
            <a:ext cx="8572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Entrega 2 &amp; 3</a:t>
            </a:r>
            <a:endParaRPr/>
          </a:p>
        </p:txBody>
      </p:sp>
      <p:pic>
        <p:nvPicPr>
          <p:cNvPr descr="image.png" id="127" name="Google Shape;127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91275" y="2033587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819150" y="3382416"/>
            <a:ext cx="498062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rPr>
              <a:t>Backend (Spring Boot)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819150" y="4841527"/>
            <a:ext cx="498062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Frontend (JavaFX)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ARQUITECTURA CLIENTE-SERVIDOR</a:t>
            </a:r>
            <a:endParaRPr/>
          </a:p>
        </p:txBody>
      </p:sp>
      <p:sp>
        <p:nvSpPr>
          <p:cNvPr id="131" name="Google Shape;131;p16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571500" y="2239416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Hemos optado por una </a:t>
            </a:r>
            <a:r>
              <a:rPr b="1" i="0" lang="en-US" sz="15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Separación de Responsabilidades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estricta para garantizar la escalabilidad futura.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819150" y="3668166"/>
            <a:ext cx="47434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Gestión de seguridad, persistencia JPA y consumo de APIs externas.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819150" y="5127277"/>
            <a:ext cx="47434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Interfaz reactiva, gestión de hilos y UX inmersiva.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62200"/>
            <a:ext cx="3492549" cy="3133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362200"/>
            <a:ext cx="3492549" cy="3133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362200"/>
            <a:ext cx="3492549" cy="3133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2025" y="2790825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40324" y="27908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18624" y="2790825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MODELO DE DATOS INTELIGENTE</a:t>
            </a:r>
            <a:endParaRPr/>
          </a:p>
        </p:txBody>
      </p:sp>
      <p:sp>
        <p:nvSpPr>
          <p:cNvPr id="147" name="Google Shape;147;p17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 txBox="1"/>
          <p:nvPr/>
        </p:nvSpPr>
        <p:spPr>
          <a:xfrm>
            <a:off x="962025" y="3409950"/>
            <a:ext cx="2847074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Juego Referencia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962025" y="3886200"/>
            <a:ext cx="27114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La "Teoría". Datos maestros importados de BGG: mecánicas, autores y metadatos técnicos.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4740324" y="3409950"/>
            <a:ext cx="2847074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Ejemplares Físicos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4740324" y="3886200"/>
            <a:ext cx="27114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La "Práctica". Cajas reales en estantería con estados: Disponible, Prestado o Mantenimiento.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8518624" y="3409950"/>
            <a:ext cx="2847074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Transacciones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8518624" y="3886200"/>
            <a:ext cx="27114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Histórico de préstamos que vincula socios con cajas físicas en tiempo real.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00513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00437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300537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795837"/>
            <a:ext cx="1809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809625" y="571500"/>
            <a:ext cx="4950618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STACK TECNOLÓGICO</a:t>
            </a:r>
            <a:endParaRPr/>
          </a:p>
        </p:txBody>
      </p:sp>
      <p:sp>
        <p:nvSpPr>
          <p:cNvPr id="165" name="Google Shape;165;p18"/>
          <p:cNvSpPr/>
          <p:nvPr/>
        </p:nvSpPr>
        <p:spPr>
          <a:xfrm>
            <a:off x="571500" y="571500"/>
            <a:ext cx="57150" cy="123825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 txBox="1"/>
          <p:nvPr/>
        </p:nvSpPr>
        <p:spPr>
          <a:xfrm>
            <a:off x="952500" y="2962275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Spring Boot 3: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Motor de la API REST y seguridad.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952500" y="3457575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JavaFX 21: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Cliente rico con estilos CSS personalizados.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952500" y="4257675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MySQL: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Persistencia relacional robusta.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952500" y="4752975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Maven &amp; Git: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Gestión de dependencias y versiones.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98181" y="4021038"/>
            <a:ext cx="3707606" cy="587424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/>
        </p:nvSpPr>
        <p:spPr>
          <a:xfrm>
            <a:off x="588168" y="3100387"/>
            <a:ext cx="3305175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rPr>
              <a:t>1s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588168" y="4433887"/>
            <a:ext cx="33051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Tiempo de Sincronización</a:t>
            </a:r>
            <a:endParaRPr/>
          </a:p>
        </p:txBody>
      </p:sp>
      <p:pic>
        <p:nvPicPr>
          <p:cNvPr descr="image.png" id="178" name="Google Shape;17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98206" y="4221063"/>
            <a:ext cx="3307556" cy="187374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9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INTEGRACIÓN CON BGG</a:t>
            </a:r>
            <a:endParaRPr/>
          </a:p>
        </p:txBody>
      </p:sp>
      <p:sp>
        <p:nvSpPr>
          <p:cNvPr id="180" name="Google Shape;180;p19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 txBox="1"/>
          <p:nvPr/>
        </p:nvSpPr>
        <p:spPr>
          <a:xfrm>
            <a:off x="4498181" y="3249513"/>
            <a:ext cx="746093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Heavy Scraping Engine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4498181" y="3525738"/>
            <a:ext cx="71056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Implementamos un motor de parseo XML que automatiza la entrada de datos.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7" name="Google Shape;18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02406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 txBox="1"/>
          <p:nvPr/>
        </p:nvSpPr>
        <p:spPr>
          <a:xfrm>
            <a:off x="571500" y="6410325"/>
            <a:ext cx="12477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LudiGest - Frontend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10715625" y="6410325"/>
            <a:ext cx="9048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JavaFX &amp; CSS</a:t>
            </a:r>
            <a:endParaRPr/>
          </a:p>
        </p:txBody>
      </p:sp>
      <p:pic>
        <p:nvPicPr>
          <p:cNvPr descr="image.png" id="192" name="Google Shape;192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91275" y="2033587"/>
            <a:ext cx="5219700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76713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26243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4757737"/>
            <a:ext cx="16192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0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CATÁLOGO REACTIVO &amp; UX</a:t>
            </a:r>
            <a:endParaRPr/>
          </a:p>
        </p:txBody>
      </p:sp>
      <p:sp>
        <p:nvSpPr>
          <p:cNvPr id="197" name="Google Shape;197;p20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571500" y="2647950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Fluidez sin concesiones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571500" y="2924175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Uso de </a:t>
            </a:r>
            <a:r>
              <a:rPr b="1" i="0" lang="en-US" sz="15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ObservableList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b="1" i="0" lang="en-US" sz="15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FilteredList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para un filtrado instantáneo en la memoria RAM del cliente.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952500" y="372427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Búsqueda en tiempo real.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952500" y="421957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Filtro por jugadores recomendados.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952500" y="471487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Tema "Vibrant Dark" inyectado por CSS.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7" name="Google Shape;20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238500"/>
            <a:ext cx="11049000" cy="138112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CALIDAD Y VALIDACIÓN</a:t>
            </a:r>
            <a:endParaRPr/>
          </a:p>
        </p:txBody>
      </p:sp>
      <p:sp>
        <p:nvSpPr>
          <p:cNvPr id="210" name="Google Shape;210;p21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6381750" y="3333750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Blindaje del sistema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6381750" y="3609975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Diferenciamos entre </a:t>
            </a:r>
            <a:r>
              <a:rPr b="1" i="0" lang="en-US" sz="15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Tests Unitarios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(memoria) y de </a:t>
            </a:r>
            <a:r>
              <a:rPr b="1" i="0" lang="en-US" sz="15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Integración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(transacciones con Rollback en MySQL) para asegurar la integridad de la base de datos.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7" name="Google Shape;21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05475" y="2746920"/>
            <a:ext cx="781050" cy="895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15025" y="2956470"/>
            <a:ext cx="3619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 txBox="1"/>
          <p:nvPr/>
        </p:nvSpPr>
        <p:spPr>
          <a:xfrm>
            <a:off x="295275" y="571500"/>
            <a:ext cx="1160145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6366F1"/>
                </a:solidFill>
                <a:latin typeface="Poppins"/>
                <a:ea typeface="Poppins"/>
                <a:cs typeface="Poppins"/>
                <a:sym typeface="Poppins"/>
              </a:rPr>
              <a:t>LIVE DEMO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571500" y="2000250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Mostrando el flujo de importación, filtrado y préstamos en vivo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6" name="Google Shape;22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95462"/>
            <a:ext cx="3492549" cy="426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795462"/>
            <a:ext cx="3492549" cy="426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795462"/>
            <a:ext cx="3492549" cy="426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2025" y="2185987"/>
            <a:ext cx="2711499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71550" y="2195512"/>
            <a:ext cx="2692449" cy="1885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40324" y="2224087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18624" y="22240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3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PRÓXIMOS PASOS &amp; MEJORAS</a:t>
            </a:r>
            <a:endParaRPr/>
          </a:p>
        </p:txBody>
      </p:sp>
      <p:sp>
        <p:nvSpPr>
          <p:cNvPr id="235" name="Google Shape;235;p23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3"/>
          <p:cNvSpPr txBox="1"/>
          <p:nvPr/>
        </p:nvSpPr>
        <p:spPr>
          <a:xfrm>
            <a:off x="962025" y="4281487"/>
            <a:ext cx="2847074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App Móvil</a:t>
            </a:r>
            <a:endParaRPr/>
          </a:p>
        </p:txBody>
      </p:sp>
      <p:sp>
        <p:nvSpPr>
          <p:cNvPr id="237" name="Google Shape;237;p23"/>
          <p:cNvSpPr txBox="1"/>
          <p:nvPr/>
        </p:nvSpPr>
        <p:spPr>
          <a:xfrm>
            <a:off x="962025" y="4757737"/>
            <a:ext cx="27114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Desarrollo de cliente móvil consumiendo la misma API REST.</a:t>
            </a:r>
            <a:endParaRPr/>
          </a:p>
        </p:txBody>
      </p:sp>
      <p:sp>
        <p:nvSpPr>
          <p:cNvPr id="238" name="Google Shape;238;p23"/>
          <p:cNvSpPr txBox="1"/>
          <p:nvPr/>
        </p:nvSpPr>
        <p:spPr>
          <a:xfrm>
            <a:off x="4740324" y="2843212"/>
            <a:ext cx="2847074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QR &amp; Autoservicio</a:t>
            </a:r>
            <a:endParaRPr/>
          </a:p>
        </p:txBody>
      </p:sp>
      <p:sp>
        <p:nvSpPr>
          <p:cNvPr id="239" name="Google Shape;239;p23"/>
          <p:cNvSpPr txBox="1"/>
          <p:nvPr/>
        </p:nvSpPr>
        <p:spPr>
          <a:xfrm>
            <a:off x="4740324" y="3319462"/>
            <a:ext cx="27114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Check-in/out rápido mediante escaneo de códigos de barras.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8518624" y="2843212"/>
            <a:ext cx="2847074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Estadísticas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8518624" y="3319462"/>
            <a:ext cx="27114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Panel de Business Intelligence para optimizar las compras.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6" name="Google Shape;24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4"/>
          <p:cNvSpPr txBox="1"/>
          <p:nvPr/>
        </p:nvSpPr>
        <p:spPr>
          <a:xfrm>
            <a:off x="571500" y="2522190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LudiGest | Proyecto de Fin de Ciclo DAM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www.ludigest.com</a:t>
            </a:r>
            <a:endParaRPr/>
          </a:p>
        </p:txBody>
      </p:sp>
      <p:sp>
        <p:nvSpPr>
          <p:cNvPr id="248" name="Google Shape;248;p24"/>
          <p:cNvSpPr txBox="1"/>
          <p:nvPr/>
        </p:nvSpPr>
        <p:spPr>
          <a:xfrm>
            <a:off x="295275" y="571500"/>
            <a:ext cx="116014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¿Preguntas?</a:t>
            </a:r>
            <a:endParaRPr/>
          </a:p>
        </p:txBody>
      </p:sp>
      <p:sp>
        <p:nvSpPr>
          <p:cNvPr id="249" name="Google Shape;249;p24"/>
          <p:cNvSpPr txBox="1"/>
          <p:nvPr/>
        </p:nvSpPr>
        <p:spPr>
          <a:xfrm>
            <a:off x="571500" y="1619250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Gracias por su atención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4" name="Google Shape;25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28936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513707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298477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083248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868019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565278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5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262" name="Google Shape;262;p25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5"/>
          <p:cNvSpPr/>
          <p:nvPr/>
        </p:nvSpPr>
        <p:spPr>
          <a:xfrm>
            <a:off x="571500" y="1579512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5"/>
          <p:cNvSpPr/>
          <p:nvPr/>
        </p:nvSpPr>
        <p:spPr>
          <a:xfrm>
            <a:off x="571500" y="2364283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5"/>
          <p:cNvSpPr/>
          <p:nvPr/>
        </p:nvSpPr>
        <p:spPr>
          <a:xfrm>
            <a:off x="571500" y="3149054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5"/>
          <p:cNvSpPr/>
          <p:nvPr/>
        </p:nvSpPr>
        <p:spPr>
          <a:xfrm>
            <a:off x="571500" y="3933825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5"/>
          <p:cNvSpPr/>
          <p:nvPr/>
        </p:nvSpPr>
        <p:spPr>
          <a:xfrm>
            <a:off x="571500" y="4718595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5"/>
          <p:cNvSpPr/>
          <p:nvPr/>
        </p:nvSpPr>
        <p:spPr>
          <a:xfrm>
            <a:off x="571500" y="235475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5"/>
          <p:cNvSpPr/>
          <p:nvPr/>
        </p:nvSpPr>
        <p:spPr>
          <a:xfrm>
            <a:off x="571500" y="235475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5"/>
          <p:cNvSpPr/>
          <p:nvPr/>
        </p:nvSpPr>
        <p:spPr>
          <a:xfrm>
            <a:off x="571500" y="313952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5"/>
          <p:cNvSpPr/>
          <p:nvPr/>
        </p:nvSpPr>
        <p:spPr>
          <a:xfrm>
            <a:off x="571500" y="313952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5"/>
          <p:cNvSpPr/>
          <p:nvPr/>
        </p:nvSpPr>
        <p:spPr>
          <a:xfrm>
            <a:off x="571500" y="39243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5"/>
          <p:cNvSpPr/>
          <p:nvPr/>
        </p:nvSpPr>
        <p:spPr>
          <a:xfrm>
            <a:off x="571500" y="39243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5"/>
          <p:cNvSpPr/>
          <p:nvPr/>
        </p:nvSpPr>
        <p:spPr>
          <a:xfrm>
            <a:off x="571500" y="470907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5"/>
          <p:cNvSpPr/>
          <p:nvPr/>
        </p:nvSpPr>
        <p:spPr>
          <a:xfrm>
            <a:off x="571500" y="470907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5"/>
          <p:cNvSpPr/>
          <p:nvPr/>
        </p:nvSpPr>
        <p:spPr>
          <a:xfrm>
            <a:off x="571500" y="549384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5"/>
          <p:cNvSpPr/>
          <p:nvPr/>
        </p:nvSpPr>
        <p:spPr>
          <a:xfrm>
            <a:off x="571500" y="549384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5"/>
          <p:cNvSpPr txBox="1"/>
          <p:nvPr/>
        </p:nvSpPr>
        <p:spPr>
          <a:xfrm>
            <a:off x="1666875" y="1722387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https://chartexpo.com/blog/wp-content/uploads/2025/04/dashboard-templates-in-excel-Main.jpg</a:t>
            </a:r>
            <a:endParaRPr/>
          </a:p>
        </p:txBody>
      </p:sp>
      <p:sp>
        <p:nvSpPr>
          <p:cNvPr id="279" name="Google Shape;279;p25"/>
          <p:cNvSpPr txBox="1"/>
          <p:nvPr/>
        </p:nvSpPr>
        <p:spPr>
          <a:xfrm>
            <a:off x="1666875" y="196810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chartexpo.com</a:t>
            </a:r>
            <a:endParaRPr/>
          </a:p>
        </p:txBody>
      </p:sp>
      <p:sp>
        <p:nvSpPr>
          <p:cNvPr id="280" name="Google Shape;280;p25"/>
          <p:cNvSpPr txBox="1"/>
          <p:nvPr/>
        </p:nvSpPr>
        <p:spPr>
          <a:xfrm>
            <a:off x="1666875" y="2507158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https://www.zealousys.com/wp-content/uploads/2023/12/Client-Server-Model.png</a:t>
            </a:r>
            <a:endParaRPr/>
          </a:p>
        </p:txBody>
      </p:sp>
      <p:sp>
        <p:nvSpPr>
          <p:cNvPr id="281" name="Google Shape;281;p25"/>
          <p:cNvSpPr txBox="1"/>
          <p:nvPr/>
        </p:nvSpPr>
        <p:spPr>
          <a:xfrm>
            <a:off x="1666875" y="275287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zealousys.com</a:t>
            </a:r>
            <a:endParaRPr/>
          </a:p>
        </p:txBody>
      </p:sp>
      <p:sp>
        <p:nvSpPr>
          <p:cNvPr id="282" name="Google Shape;282;p25"/>
          <p:cNvSpPr txBox="1"/>
          <p:nvPr/>
        </p:nvSpPr>
        <p:spPr>
          <a:xfrm>
            <a:off x="1666875" y="3291929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https://miro.medium.com/v2/resize:fit:1400/0*VIQzKl3bOPDbiSq_</a:t>
            </a:r>
            <a:endParaRPr/>
          </a:p>
        </p:txBody>
      </p:sp>
      <p:sp>
        <p:nvSpPr>
          <p:cNvPr id="283" name="Google Shape;283;p25"/>
          <p:cNvSpPr txBox="1"/>
          <p:nvPr/>
        </p:nvSpPr>
        <p:spPr>
          <a:xfrm>
            <a:off x="1666875" y="353764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medium.com</a:t>
            </a:r>
            <a:endParaRPr/>
          </a:p>
        </p:txBody>
      </p:sp>
      <p:sp>
        <p:nvSpPr>
          <p:cNvPr id="284" name="Google Shape;284;p25"/>
          <p:cNvSpPr txBox="1"/>
          <p:nvPr/>
        </p:nvSpPr>
        <p:spPr>
          <a:xfrm>
            <a:off x="1666875" y="407670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https://cdn.dribbble.com/userupload/44761155/file/61c78fdb95a17aed7a0c813f1e44b1fd.png?resize=752x&amp;vertical=center</a:t>
            </a:r>
            <a:endParaRPr/>
          </a:p>
        </p:txBody>
      </p:sp>
      <p:sp>
        <p:nvSpPr>
          <p:cNvPr id="285" name="Google Shape;285;p25"/>
          <p:cNvSpPr txBox="1"/>
          <p:nvPr/>
        </p:nvSpPr>
        <p:spPr>
          <a:xfrm>
            <a:off x="1666875" y="432241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dribbble.com</a:t>
            </a:r>
            <a:endParaRPr/>
          </a:p>
        </p:txBody>
      </p:sp>
      <p:sp>
        <p:nvSpPr>
          <p:cNvPr id="286" name="Google Shape;286;p25"/>
          <p:cNvSpPr txBox="1"/>
          <p:nvPr/>
        </p:nvSpPr>
        <p:spPr>
          <a:xfrm>
            <a:off x="1666875" y="486147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https://miro.medium.com/v2/resize:fit:1400/1*-SQEbLAGdgF_lufvM_cBYA.png</a:t>
            </a:r>
            <a:endParaRPr/>
          </a:p>
        </p:txBody>
      </p:sp>
      <p:sp>
        <p:nvSpPr>
          <p:cNvPr id="287" name="Google Shape;287;p25"/>
          <p:cNvSpPr txBox="1"/>
          <p:nvPr/>
        </p:nvSpPr>
        <p:spPr>
          <a:xfrm>
            <a:off x="1666875" y="510718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medium.com</a:t>
            </a:r>
            <a:endParaRPr/>
          </a:p>
        </p:txBody>
      </p:sp>
      <p:sp>
        <p:nvSpPr>
          <p:cNvPr id="288" name="Google Shape;288;p25"/>
          <p:cNvSpPr txBox="1"/>
          <p:nvPr/>
        </p:nvSpPr>
        <p:spPr>
          <a:xfrm>
            <a:off x="1666875" y="5646241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https://static.vecteezy.com/system/resources/thumbnails/008/605/359/small/dark-glow-futuristic-technology-concept-free-vector.jpg</a:t>
            </a:r>
            <a:endParaRPr/>
          </a:p>
        </p:txBody>
      </p:sp>
      <p:sp>
        <p:nvSpPr>
          <p:cNvPr id="289" name="Google Shape;289;p25"/>
          <p:cNvSpPr txBox="1"/>
          <p:nvPr/>
        </p:nvSpPr>
        <p:spPr>
          <a:xfrm>
            <a:off x="1666875" y="589195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www.vecteezy.com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4" name="Google Shape;29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5" name="Google Shape;29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69078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6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297" name="Google Shape;297;p26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6"/>
          <p:cNvSpPr txBox="1"/>
          <p:nvPr/>
        </p:nvSpPr>
        <p:spPr>
          <a:xfrm>
            <a:off x="1666875" y="368424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https://www.slideteam.net/media/catalog/product/cache/330x186/s/h/shadowed_indigo_powerpoint_background_template_Slide1.jpg</a:t>
            </a:r>
            <a:endParaRPr/>
          </a:p>
        </p:txBody>
      </p:sp>
      <p:sp>
        <p:nvSpPr>
          <p:cNvPr id="299" name="Google Shape;299;p26"/>
          <p:cNvSpPr txBox="1"/>
          <p:nvPr/>
        </p:nvSpPr>
        <p:spPr>
          <a:xfrm>
            <a:off x="1666875" y="392995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www.slideteam.net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