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embeddedFontLst>
    <p:embeddedFont>
      <p:font typeface="Inter" panose="020B0604020202020204" charset="0"/>
      <p:regular r:id="rId14"/>
      <p:bold r:id="rId15"/>
      <p:italic r:id="rId16"/>
      <p:boldItalic r:id="rId17"/>
    </p:embeddedFont>
    <p:embeddedFont>
      <p:font typeface="Inter SemiBold" panose="020B0604020202020204" charset="0"/>
      <p:regular r:id="rId18"/>
      <p:bold r:id="rId19"/>
      <p:italic r:id="rId20"/>
      <p:boldItalic r:id="rId21"/>
    </p:embeddedFont>
    <p:embeddedFont>
      <p:font typeface="Poppins" panose="00000500000000000000" pitchFamily="2" charset="0"/>
      <p:regular r:id="rId22"/>
      <p:bold r:id="rId23"/>
      <p:italic r:id="rId24"/>
      <p:boldItalic r:id="rId25"/>
    </p:embeddedFont>
    <p:embeddedFont>
      <p:font typeface="Poppins SemiBold" panose="00000700000000000000" pitchFamily="2" charset="0"/>
      <p:regular r:id="rId26"/>
      <p:bold r:id="rId27"/>
      <p:italic r:id="rId28"/>
      <p:boldItalic r:id="rId2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725" y="53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openxmlformats.org/officeDocument/2006/relationships/font" Target="fonts/font13.fntdata"/><Relationship Id="rId3" Type="http://schemas.openxmlformats.org/officeDocument/2006/relationships/slide" Target="slides/slide2.xml"/><Relationship Id="rId21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schemas.openxmlformats.org/officeDocument/2006/relationships/font" Target="fonts/font12.fntdata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29" Type="http://schemas.openxmlformats.org/officeDocument/2006/relationships/font" Target="fonts/font1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1.fntdata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font" Target="fonts/font10.fntdata"/><Relationship Id="rId28" Type="http://schemas.openxmlformats.org/officeDocument/2006/relationships/font" Target="fonts/font15.fntdata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font" Target="fonts/font9.fntdata"/><Relationship Id="rId27" Type="http://schemas.openxmlformats.org/officeDocument/2006/relationships/font" Target="fonts/font14.fntdata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92" name="Google Shape;9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1" name="Google Shape;16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1" name="Google Shape;281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3" name="Google Shape;303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10" Type="http://schemas.openxmlformats.org/officeDocument/2006/relationships/image" Target="../media/image15.png"/><Relationship Id="rId4" Type="http://schemas.openxmlformats.org/officeDocument/2006/relationships/image" Target="../media/image10.png"/><Relationship Id="rId9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6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10" Type="http://schemas.openxmlformats.org/officeDocument/2006/relationships/image" Target="../media/image22.png"/><Relationship Id="rId4" Type="http://schemas.openxmlformats.org/officeDocument/2006/relationships/image" Target="../media/image3.png"/><Relationship Id="rId9" Type="http://schemas.openxmlformats.org/officeDocument/2006/relationships/image" Target="../media/image2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1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6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1.png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png"/><Relationship Id="rId5" Type="http://schemas.openxmlformats.org/officeDocument/2006/relationships/image" Target="../media/image3.png"/><Relationship Id="rId4" Type="http://schemas.openxmlformats.org/officeDocument/2006/relationships/image" Target="../media/image4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3"/>
          <p:cNvSpPr txBox="1"/>
          <p:nvPr/>
        </p:nvSpPr>
        <p:spPr>
          <a:xfrm>
            <a:off x="3476625" y="4541490"/>
            <a:ext cx="5393998" cy="623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 err="1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Alumno</a:t>
            </a:r>
            <a:r>
              <a:rPr lang="en-US" sz="1350" b="0" i="0" u="none" strike="noStrike" cap="none" dirty="0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:</a:t>
            </a:r>
            <a:r>
              <a:rPr lang="en-US" sz="135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Alejandro Muñoz de la Sierra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0" i="0" u="none" strike="noStrike" cap="none" dirty="0" err="1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Profesor</a:t>
            </a:r>
            <a:r>
              <a:rPr lang="en-US" sz="1350" b="0" i="0" u="none" strike="noStrike" cap="none" dirty="0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:</a:t>
            </a:r>
            <a:r>
              <a:rPr lang="en-US" sz="135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Alejandro Rioja Chocron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Desarrollo de </a:t>
            </a:r>
            <a:r>
              <a:rPr lang="en-US" sz="135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Aplicaciones</a:t>
            </a:r>
            <a:r>
              <a:rPr lang="en-US" sz="135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Multiplataforma</a:t>
            </a:r>
            <a:r>
              <a:rPr lang="en-US" sz="135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Cesur | Mayo de 2026</a:t>
            </a:r>
            <a:endParaRPr dirty="0"/>
          </a:p>
        </p:txBody>
      </p:sp>
      <p:sp>
        <p:nvSpPr>
          <p:cNvPr id="88" name="Google Shape;88;p13"/>
          <p:cNvSpPr txBox="1"/>
          <p:nvPr/>
        </p:nvSpPr>
        <p:spPr>
          <a:xfrm>
            <a:off x="4200763" y="2259359"/>
            <a:ext cx="3790473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375" b="1" i="0" u="none" strike="noStrike" cap="non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LudiGest</a:t>
            </a:r>
            <a:endParaRPr/>
          </a:p>
        </p:txBody>
      </p:sp>
      <p:sp>
        <p:nvSpPr>
          <p:cNvPr id="89" name="Google Shape;89;p13"/>
          <p:cNvSpPr txBox="1"/>
          <p:nvPr/>
        </p:nvSpPr>
        <p:spPr>
          <a:xfrm>
            <a:off x="3176587" y="3669059"/>
            <a:ext cx="5838825" cy="396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Plataforma Intermodular de Gestión de Ludotecas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oogle Shape;94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6248400"/>
            <a:ext cx="11029950" cy="31432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4"/>
          <p:cNvSpPr txBox="1"/>
          <p:nvPr/>
        </p:nvSpPr>
        <p:spPr>
          <a:xfrm>
            <a:off x="581025" y="6400800"/>
            <a:ext cx="1495425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LudiGest - Defensa TFG</a:t>
            </a:r>
            <a:endParaRPr/>
          </a:p>
        </p:txBody>
      </p:sp>
      <p:sp>
        <p:nvSpPr>
          <p:cNvPr id="98" name="Google Shape;98;p14"/>
          <p:cNvSpPr txBox="1"/>
          <p:nvPr/>
        </p:nvSpPr>
        <p:spPr>
          <a:xfrm>
            <a:off x="10277475" y="6400800"/>
            <a:ext cx="1333500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Problema y Objetivos</a:t>
            </a:r>
            <a:endParaRPr/>
          </a:p>
        </p:txBody>
      </p:sp>
      <p:pic>
        <p:nvPicPr>
          <p:cNvPr id="99" name="Google Shape;99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782050" y="3357562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4"/>
          <p:cNvSpPr txBox="1"/>
          <p:nvPr/>
        </p:nvSpPr>
        <p:spPr>
          <a:xfrm>
            <a:off x="6334125" y="3881437"/>
            <a:ext cx="527685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[INSERTA AQUÍ LA CAPTURA DEL CATÁLOGO]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050" b="0" i="0" u="none" strike="noStrike" cap="none">
                <a:solidFill>
                  <a:srgbClr val="94A3B8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(Para mostrar cómo se ve el objetivo final cumplido)</a:t>
            </a:r>
            <a:endParaRPr/>
          </a:p>
        </p:txBody>
      </p:sp>
      <p:pic>
        <p:nvPicPr>
          <p:cNvPr id="101" name="Google Shape;101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81025" y="3777704"/>
            <a:ext cx="2381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81025" y="4499520"/>
            <a:ext cx="21907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81025" y="5221337"/>
            <a:ext cx="190500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4"/>
          <p:cNvSpPr txBox="1"/>
          <p:nvPr/>
        </p:nvSpPr>
        <p:spPr>
          <a:xfrm>
            <a:off x="771525" y="485775"/>
            <a:ext cx="11381422" cy="542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1. Problema y 2. Objetivos</a:t>
            </a:r>
            <a:endParaRPr/>
          </a:p>
        </p:txBody>
      </p:sp>
      <p:sp>
        <p:nvSpPr>
          <p:cNvPr id="105" name="Google Shape;105;p14"/>
          <p:cNvSpPr/>
          <p:nvPr/>
        </p:nvSpPr>
        <p:spPr>
          <a:xfrm>
            <a:off x="581025" y="485775"/>
            <a:ext cx="57150" cy="542925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14"/>
          <p:cNvSpPr txBox="1"/>
          <p:nvPr/>
        </p:nvSpPr>
        <p:spPr>
          <a:xfrm>
            <a:off x="581025" y="1738758"/>
            <a:ext cx="5540692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FB7185"/>
                </a:solidFill>
                <a:latin typeface="Poppins"/>
                <a:ea typeface="Poppins"/>
                <a:cs typeface="Poppins"/>
                <a:sym typeface="Poppins"/>
              </a:rPr>
              <a:t>El Problema Detectado</a:t>
            </a:r>
            <a:endParaRPr/>
          </a:p>
        </p:txBody>
      </p:sp>
      <p:sp>
        <p:nvSpPr>
          <p:cNvPr id="107" name="Google Shape;107;p14"/>
          <p:cNvSpPr txBox="1"/>
          <p:nvPr/>
        </p:nvSpPr>
        <p:spPr>
          <a:xfrm>
            <a:off x="581025" y="2014983"/>
            <a:ext cx="5276850" cy="1157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Las asociaciones de juegos sufren un caos logístico: inventarios en Excel desactualizados, metadatos tecleados a mano propensos a errores y falta de trazabilidad en los préstamos físicos.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81025" y="3458616"/>
            <a:ext cx="5540692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EA5E9"/>
                </a:solidFill>
                <a:latin typeface="Poppins"/>
                <a:ea typeface="Poppins"/>
                <a:cs typeface="Poppins"/>
                <a:sym typeface="Poppins"/>
              </a:rPr>
              <a:t>Objetivos de LudiGest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962025" y="3734841"/>
            <a:ext cx="4895850" cy="578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Automatización:</a:t>
            </a:r>
            <a:r>
              <a:rPr lang="en-US" sz="1425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Ingesta de datos directa desde la API de BoardGameGeek (BGG).</a:t>
            </a:r>
            <a:endParaRPr/>
          </a:p>
        </p:txBody>
      </p:sp>
      <p:sp>
        <p:nvSpPr>
          <p:cNvPr id="110" name="Google Shape;110;p14"/>
          <p:cNvSpPr txBox="1"/>
          <p:nvPr/>
        </p:nvSpPr>
        <p:spPr>
          <a:xfrm>
            <a:off x="962025" y="4456658"/>
            <a:ext cx="4895850" cy="578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Trazabilidad Física:</a:t>
            </a:r>
            <a:r>
              <a:rPr lang="en-US" sz="1425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Separar la "ficha del juego" de la "caja física" (Ejemplar).</a:t>
            </a:r>
            <a:endParaRPr/>
          </a:p>
        </p:txBody>
      </p:sp>
      <p:sp>
        <p:nvSpPr>
          <p:cNvPr id="111" name="Google Shape;111;p14"/>
          <p:cNvSpPr txBox="1"/>
          <p:nvPr/>
        </p:nvSpPr>
        <p:spPr>
          <a:xfrm>
            <a:off x="962025" y="5178474"/>
            <a:ext cx="4895850" cy="578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Reactividad:</a:t>
            </a:r>
            <a:r>
              <a:rPr lang="en-US" sz="1425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Búsqueda y filtrado instantáneo para socios sin saturar la base de datos.</a:t>
            </a:r>
            <a:endParaRPr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2622DABF-4040-6485-62AD-89B8150DCD0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40378" y="330744"/>
            <a:ext cx="5270597" cy="2976217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3D02185E-CE40-3867-5A5D-C81F4DAF877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34125" y="3360834"/>
            <a:ext cx="5289429" cy="2677421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419497"/>
            <a:ext cx="3517850" cy="353362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37000" y="2419498"/>
            <a:ext cx="3517850" cy="35336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Google Shape;120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092975" y="2419497"/>
            <a:ext cx="3517850" cy="3533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81025" y="6248400"/>
            <a:ext cx="11029950" cy="314325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5"/>
          <p:cNvSpPr txBox="1"/>
          <p:nvPr/>
        </p:nvSpPr>
        <p:spPr>
          <a:xfrm>
            <a:off x="581025" y="6400800"/>
            <a:ext cx="1495425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LudiGest - Defensa TFG</a:t>
            </a:r>
            <a:endParaRPr/>
          </a:p>
        </p:txBody>
      </p:sp>
      <p:sp>
        <p:nvSpPr>
          <p:cNvPr id="123" name="Google Shape;123;p15"/>
          <p:cNvSpPr txBox="1"/>
          <p:nvPr/>
        </p:nvSpPr>
        <p:spPr>
          <a:xfrm>
            <a:off x="10458450" y="6400800"/>
            <a:ext cx="1152525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Stack Tecnológico</a:t>
            </a:r>
            <a:endParaRPr/>
          </a:p>
        </p:txBody>
      </p:sp>
      <p:pic>
        <p:nvPicPr>
          <p:cNvPr id="124" name="Google Shape;124;p15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76300" y="2781448"/>
            <a:ext cx="257175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15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4632275" y="2781448"/>
            <a:ext cx="390525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6" name="Google Shape;126;p15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8388250" y="2781448"/>
            <a:ext cx="304800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15"/>
          <p:cNvSpPr txBox="1"/>
          <p:nvPr/>
        </p:nvSpPr>
        <p:spPr>
          <a:xfrm>
            <a:off x="771525" y="485775"/>
            <a:ext cx="11381422" cy="542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3. Tecnologías y su Justificación</a:t>
            </a:r>
            <a:endParaRPr/>
          </a:p>
        </p:txBody>
      </p:sp>
      <p:sp>
        <p:nvSpPr>
          <p:cNvPr id="128" name="Google Shape;128;p15"/>
          <p:cNvSpPr/>
          <p:nvPr/>
        </p:nvSpPr>
        <p:spPr>
          <a:xfrm>
            <a:off x="581025" y="485775"/>
            <a:ext cx="57150" cy="542925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15"/>
          <p:cNvSpPr txBox="1"/>
          <p:nvPr/>
        </p:nvSpPr>
        <p:spPr>
          <a:xfrm>
            <a:off x="581025" y="1844278"/>
            <a:ext cx="11029950" cy="2894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Decisiones técnicas basadas en el rendimiento, la escalabilidad y la separación de responsabilidades.</a:t>
            </a:r>
            <a:endParaRPr/>
          </a:p>
        </p:txBody>
      </p:sp>
      <p:sp>
        <p:nvSpPr>
          <p:cNvPr id="130" name="Google Shape;130;p15"/>
          <p:cNvSpPr txBox="1"/>
          <p:nvPr/>
        </p:nvSpPr>
        <p:spPr>
          <a:xfrm>
            <a:off x="876300" y="3305323"/>
            <a:ext cx="3073665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Backend: Spring Boot 4</a:t>
            </a:r>
            <a:endParaRPr/>
          </a:p>
        </p:txBody>
      </p:sp>
      <p:sp>
        <p:nvSpPr>
          <p:cNvPr id="131" name="Google Shape;131;p15"/>
          <p:cNvSpPr txBox="1"/>
          <p:nvPr/>
        </p:nvSpPr>
        <p:spPr>
          <a:xfrm>
            <a:off x="876300" y="3762523"/>
            <a:ext cx="2927300" cy="17368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 dirty="0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¿Por </a:t>
            </a:r>
            <a:r>
              <a:rPr lang="en-US" sz="1425" b="0" i="0" u="none" strike="noStrike" cap="none" dirty="0" err="1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qué</a:t>
            </a:r>
            <a:r>
              <a:rPr lang="en-US" sz="1425" b="0" i="0" u="none" strike="noStrike" cap="none" dirty="0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?</a:t>
            </a:r>
            <a:r>
              <a:rPr lang="en-US" sz="1425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425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Porque</a:t>
            </a:r>
            <a:r>
              <a:rPr lang="en-US" sz="1425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425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permite</a:t>
            </a:r>
            <a:r>
              <a:rPr lang="en-US" sz="1425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425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crear</a:t>
            </a:r>
            <a:r>
              <a:rPr lang="en-US" sz="1425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425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una</a:t>
            </a:r>
            <a:r>
              <a:rPr lang="en-US" sz="1425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API RESTful robusta y </a:t>
            </a:r>
            <a:r>
              <a:rPr lang="en-US" sz="1425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segura</a:t>
            </a:r>
            <a:r>
              <a:rPr lang="en-US" sz="1425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. Usa Jakarta Validation para </a:t>
            </a:r>
            <a:r>
              <a:rPr lang="en-US" sz="1425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blindar</a:t>
            </a:r>
            <a:r>
              <a:rPr lang="en-US" sz="1425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425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los</a:t>
            </a:r>
            <a:r>
              <a:rPr lang="en-US" sz="1425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425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datos</a:t>
            </a:r>
            <a:r>
              <a:rPr lang="en-US" sz="1425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antes de </a:t>
            </a:r>
            <a:r>
              <a:rPr lang="en-US" sz="1425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guardarlos</a:t>
            </a:r>
            <a:r>
              <a:rPr lang="en-US" sz="1425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y </a:t>
            </a:r>
            <a:r>
              <a:rPr lang="en-US" sz="1425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aisla</a:t>
            </a:r>
            <a:r>
              <a:rPr lang="en-US" sz="1425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la </a:t>
            </a:r>
            <a:r>
              <a:rPr lang="en-US" sz="1425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lógica</a:t>
            </a:r>
            <a:r>
              <a:rPr lang="en-US" sz="1425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de </a:t>
            </a:r>
            <a:r>
              <a:rPr lang="en-US" sz="1425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negocio</a:t>
            </a:r>
            <a:r>
              <a:rPr lang="en-US" sz="1425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dirty="0"/>
          </a:p>
        </p:txBody>
      </p:sp>
      <p:sp>
        <p:nvSpPr>
          <p:cNvPr id="132" name="Google Shape;132;p15"/>
          <p:cNvSpPr txBox="1"/>
          <p:nvPr/>
        </p:nvSpPr>
        <p:spPr>
          <a:xfrm>
            <a:off x="4632275" y="3305323"/>
            <a:ext cx="3073665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Frontend: JavaFX 21</a:t>
            </a:r>
            <a:endParaRPr/>
          </a:p>
        </p:txBody>
      </p:sp>
      <p:sp>
        <p:nvSpPr>
          <p:cNvPr id="133" name="Google Shape;133;p15"/>
          <p:cNvSpPr txBox="1"/>
          <p:nvPr/>
        </p:nvSpPr>
        <p:spPr>
          <a:xfrm>
            <a:off x="4632275" y="3762523"/>
            <a:ext cx="2927300" cy="17368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¿Por qué?</a:t>
            </a:r>
            <a:r>
              <a:rPr lang="en-US" sz="1425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Ofrece renderizado por hardware y nos permite separar la vista (.fxml) de la lógica (Controllers), inyectando CSS para un tema "Océano y Coral" unificado.</a:t>
            </a:r>
            <a:endParaRPr/>
          </a:p>
        </p:txBody>
      </p:sp>
      <p:sp>
        <p:nvSpPr>
          <p:cNvPr id="134" name="Google Shape;134;p15"/>
          <p:cNvSpPr txBox="1"/>
          <p:nvPr/>
        </p:nvSpPr>
        <p:spPr>
          <a:xfrm>
            <a:off x="8388250" y="3305323"/>
            <a:ext cx="3073665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 dirty="0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BD: </a:t>
            </a:r>
            <a:r>
              <a:rPr lang="en-US" sz="1650" b="1" i="0" u="none" strike="noStrike" cap="none" dirty="0" err="1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MariaDb</a:t>
            </a:r>
            <a:r>
              <a:rPr lang="en-US" sz="1650" b="1" i="0" u="none" strike="noStrike" cap="none" dirty="0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 10 (MySQL 8) &amp; Hibernate</a:t>
            </a:r>
            <a:endParaRPr dirty="0"/>
          </a:p>
        </p:txBody>
      </p:sp>
      <p:sp>
        <p:nvSpPr>
          <p:cNvPr id="135" name="Google Shape;135;p15"/>
          <p:cNvSpPr txBox="1"/>
          <p:nvPr/>
        </p:nvSpPr>
        <p:spPr>
          <a:xfrm>
            <a:off x="8388250" y="3762523"/>
            <a:ext cx="2927300" cy="2105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 dirty="0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¿Por </a:t>
            </a:r>
            <a:r>
              <a:rPr lang="en-US" sz="1425" b="0" i="0" u="none" strike="noStrike" cap="none" dirty="0" err="1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qué</a:t>
            </a:r>
            <a:r>
              <a:rPr lang="en-US" sz="1425" b="0" i="0" u="none" strike="noStrike" cap="none" dirty="0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?</a:t>
            </a:r>
            <a:r>
              <a:rPr lang="en-US" sz="1425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MariaDB </a:t>
            </a:r>
            <a:r>
              <a:rPr lang="en-US" sz="1425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asegura</a:t>
            </a:r>
            <a:r>
              <a:rPr lang="en-US" sz="1425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425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integridad</a:t>
            </a:r>
            <a:r>
              <a:rPr lang="en-US" sz="1425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425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relacional</a:t>
            </a:r>
            <a:r>
              <a:rPr lang="en-US" sz="1425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(ACID). Hibernate </a:t>
            </a:r>
            <a:r>
              <a:rPr lang="en-US" sz="1425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mapea</a:t>
            </a:r>
            <a:r>
              <a:rPr lang="en-US" sz="1425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425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nuestros</a:t>
            </a:r>
            <a:r>
              <a:rPr lang="en-US" sz="1425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425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objetos</a:t>
            </a:r>
            <a:r>
              <a:rPr lang="en-US" sz="1425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Java a </a:t>
            </a:r>
            <a:r>
              <a:rPr lang="en-US" sz="1425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tablas</a:t>
            </a:r>
            <a:r>
              <a:rPr lang="en-US" sz="1425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SQL </a:t>
            </a:r>
            <a:r>
              <a:rPr lang="en-US" sz="1425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automáticamente</a:t>
            </a:r>
            <a:r>
              <a:rPr lang="en-US" sz="1425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, </a:t>
            </a:r>
            <a:r>
              <a:rPr lang="en-US" sz="1425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ahorrando</a:t>
            </a:r>
            <a:r>
              <a:rPr lang="en-US" sz="1425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425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código</a:t>
            </a:r>
            <a:r>
              <a:rPr lang="en-US" sz="1425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425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repetitivo</a:t>
            </a:r>
            <a:r>
              <a:rPr lang="en-US" sz="1425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(Boilerplate).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6248400"/>
            <a:ext cx="11029950" cy="314325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16"/>
          <p:cNvSpPr txBox="1"/>
          <p:nvPr/>
        </p:nvSpPr>
        <p:spPr>
          <a:xfrm>
            <a:off x="581025" y="6400800"/>
            <a:ext cx="1495425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LudiGest - Defensa TFG</a:t>
            </a:r>
            <a:endParaRPr/>
          </a:p>
        </p:txBody>
      </p:sp>
      <p:sp>
        <p:nvSpPr>
          <p:cNvPr id="144" name="Google Shape;144;p16"/>
          <p:cNvSpPr txBox="1"/>
          <p:nvPr/>
        </p:nvSpPr>
        <p:spPr>
          <a:xfrm>
            <a:off x="10172700" y="6400800"/>
            <a:ext cx="1438275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Arquitectura Multicapa</a:t>
            </a:r>
            <a:endParaRPr/>
          </a:p>
        </p:txBody>
      </p:sp>
      <p:pic>
        <p:nvPicPr>
          <p:cNvPr id="147" name="Google Shape;147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81025" y="3231058"/>
            <a:ext cx="21907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81025" y="3663404"/>
            <a:ext cx="2381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16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81025" y="4385220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0" name="Google Shape;150;p16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81025" y="5107037"/>
            <a:ext cx="190500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16"/>
          <p:cNvSpPr txBox="1"/>
          <p:nvPr/>
        </p:nvSpPr>
        <p:spPr>
          <a:xfrm>
            <a:off x="771525" y="485775"/>
            <a:ext cx="11381422" cy="542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4. Arquitectura del Sistema</a:t>
            </a:r>
            <a:endParaRPr/>
          </a:p>
        </p:txBody>
      </p:sp>
      <p:sp>
        <p:nvSpPr>
          <p:cNvPr id="152" name="Google Shape;152;p16"/>
          <p:cNvSpPr/>
          <p:nvPr/>
        </p:nvSpPr>
        <p:spPr>
          <a:xfrm>
            <a:off x="581025" y="485775"/>
            <a:ext cx="57150" cy="542925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16"/>
          <p:cNvSpPr txBox="1"/>
          <p:nvPr/>
        </p:nvSpPr>
        <p:spPr>
          <a:xfrm>
            <a:off x="581025" y="1853058"/>
            <a:ext cx="5540692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Cliente - Servidor (N-Tier)</a:t>
            </a:r>
            <a:endParaRPr/>
          </a:p>
        </p:txBody>
      </p:sp>
      <p:sp>
        <p:nvSpPr>
          <p:cNvPr id="154" name="Google Shape;154;p16"/>
          <p:cNvSpPr txBox="1"/>
          <p:nvPr/>
        </p:nvSpPr>
        <p:spPr>
          <a:xfrm>
            <a:off x="581025" y="2129283"/>
            <a:ext cx="5276850" cy="868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LudiGest está completamente desacoplado. El frontend podría ser una App Móvil mañana mismo porque el backend es independiente.</a:t>
            </a:r>
            <a:endParaRPr/>
          </a:p>
        </p:txBody>
      </p:sp>
      <p:sp>
        <p:nvSpPr>
          <p:cNvPr id="155" name="Google Shape;155;p16"/>
          <p:cNvSpPr txBox="1"/>
          <p:nvPr/>
        </p:nvSpPr>
        <p:spPr>
          <a:xfrm>
            <a:off x="962025" y="3188196"/>
            <a:ext cx="4895850" cy="2894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Capa de Presentación:</a:t>
            </a:r>
            <a:r>
              <a:rPr lang="en-US" sz="1425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JavaFX realiza peticiones HTTP.</a:t>
            </a:r>
            <a:endParaRPr/>
          </a:p>
        </p:txBody>
      </p:sp>
      <p:sp>
        <p:nvSpPr>
          <p:cNvPr id="156" name="Google Shape;156;p16"/>
          <p:cNvSpPr txBox="1"/>
          <p:nvPr/>
        </p:nvSpPr>
        <p:spPr>
          <a:xfrm>
            <a:off x="962025" y="3620541"/>
            <a:ext cx="4895850" cy="578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Capa de Control (REST):</a:t>
            </a:r>
            <a:r>
              <a:rPr lang="en-US" sz="1425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Los Controllers validan y enrutan.</a:t>
            </a:r>
            <a:endParaRPr/>
          </a:p>
        </p:txBody>
      </p:sp>
      <p:sp>
        <p:nvSpPr>
          <p:cNvPr id="157" name="Google Shape;157;p16"/>
          <p:cNvSpPr txBox="1"/>
          <p:nvPr/>
        </p:nvSpPr>
        <p:spPr>
          <a:xfrm>
            <a:off x="962025" y="4342358"/>
            <a:ext cx="4895850" cy="578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Capa de Servicio:</a:t>
            </a:r>
            <a:r>
              <a:rPr lang="en-US" sz="1425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Aquí reside el BggSyncService que piensa y calcula.</a:t>
            </a:r>
            <a:endParaRPr/>
          </a:p>
        </p:txBody>
      </p:sp>
      <p:sp>
        <p:nvSpPr>
          <p:cNvPr id="158" name="Google Shape;158;p16"/>
          <p:cNvSpPr txBox="1"/>
          <p:nvPr/>
        </p:nvSpPr>
        <p:spPr>
          <a:xfrm>
            <a:off x="962025" y="5064174"/>
            <a:ext cx="4895850" cy="578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Capa de Persistencia:</a:t>
            </a:r>
            <a:r>
              <a:rPr lang="en-US" sz="1425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Los Repositories hablan con MySQL.</a:t>
            </a:r>
            <a:endParaRPr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5AC8A46C-3C80-17ED-EA5C-64E34AE4843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30222" y="143111"/>
            <a:ext cx="2398453" cy="5953419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0C0C20AD-307A-59AA-DB65-5E9431BB485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937179" y="150976"/>
            <a:ext cx="2728439" cy="5945554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" name="Google Shape;163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106810"/>
            <a:ext cx="5372100" cy="1809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6" name="Google Shape;166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38875" y="2106810"/>
            <a:ext cx="5372100" cy="1809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7" name="Google Shape;167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81025" y="4202310"/>
            <a:ext cx="5372100" cy="1809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" name="Google Shape;168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238875" y="4202310"/>
            <a:ext cx="5372100" cy="1809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9" name="Google Shape;169;p17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81025" y="6248400"/>
            <a:ext cx="11029950" cy="314325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17"/>
          <p:cNvSpPr txBox="1"/>
          <p:nvPr/>
        </p:nvSpPr>
        <p:spPr>
          <a:xfrm>
            <a:off x="581025" y="6400800"/>
            <a:ext cx="1495425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LudiGest - Defensa TFG</a:t>
            </a:r>
            <a:endParaRPr/>
          </a:p>
        </p:txBody>
      </p:sp>
      <p:sp>
        <p:nvSpPr>
          <p:cNvPr id="171" name="Google Shape;171;p17"/>
          <p:cNvSpPr txBox="1"/>
          <p:nvPr/>
        </p:nvSpPr>
        <p:spPr>
          <a:xfrm>
            <a:off x="10048875" y="6400800"/>
            <a:ext cx="1562100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Modelo Entidad-Relación</a:t>
            </a:r>
            <a:endParaRPr/>
          </a:p>
        </p:txBody>
      </p:sp>
      <p:sp>
        <p:nvSpPr>
          <p:cNvPr id="172" name="Google Shape;172;p17"/>
          <p:cNvSpPr/>
          <p:nvPr/>
        </p:nvSpPr>
        <p:spPr>
          <a:xfrm>
            <a:off x="590550" y="2116335"/>
            <a:ext cx="5353050" cy="428625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7"/>
          <p:cNvSpPr txBox="1"/>
          <p:nvPr/>
        </p:nvSpPr>
        <p:spPr>
          <a:xfrm>
            <a:off x="685800" y="2211585"/>
            <a:ext cx="5162550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juegos_referencia (La Ficha Teórica)</a:t>
            </a:r>
            <a:endParaRPr/>
          </a:p>
        </p:txBody>
      </p:sp>
      <p:sp>
        <p:nvSpPr>
          <p:cNvPr id="174" name="Google Shape;174;p17"/>
          <p:cNvSpPr txBox="1"/>
          <p:nvPr/>
        </p:nvSpPr>
        <p:spPr>
          <a:xfrm>
            <a:off x="733425" y="2621160"/>
            <a:ext cx="506730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rgbClr val="FBBF24"/>
                </a:solidFill>
                <a:latin typeface="Arial"/>
                <a:ea typeface="Arial"/>
                <a:cs typeface="Arial"/>
                <a:sym typeface="Arial"/>
              </a:rPr>
              <a:t>PK id (bigint)</a:t>
            </a:r>
            <a:r>
              <a:rPr lang="en-US" sz="1125" b="0" i="0" u="none" strike="noStrike" cap="non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Clave Primaria</a:t>
            </a:r>
            <a:endParaRPr/>
          </a:p>
        </p:txBody>
      </p:sp>
      <p:sp>
        <p:nvSpPr>
          <p:cNvPr id="175" name="Google Shape;175;p17"/>
          <p:cNvSpPr/>
          <p:nvPr/>
        </p:nvSpPr>
        <p:spPr>
          <a:xfrm>
            <a:off x="590550" y="2878335"/>
            <a:ext cx="535305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17"/>
          <p:cNvSpPr txBox="1"/>
          <p:nvPr/>
        </p:nvSpPr>
        <p:spPr>
          <a:xfrm>
            <a:off x="733425" y="2964060"/>
            <a:ext cx="506730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0" i="0" u="none" strike="noStrike" cap="non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id_bgg (bigint)UNIQUE (BoardGameGeek)</a:t>
            </a:r>
            <a:endParaRPr/>
          </a:p>
        </p:txBody>
      </p:sp>
      <p:sp>
        <p:nvSpPr>
          <p:cNvPr id="177" name="Google Shape;177;p17"/>
          <p:cNvSpPr/>
          <p:nvPr/>
        </p:nvSpPr>
        <p:spPr>
          <a:xfrm>
            <a:off x="590550" y="3221235"/>
            <a:ext cx="535305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7"/>
          <p:cNvSpPr txBox="1"/>
          <p:nvPr/>
        </p:nvSpPr>
        <p:spPr>
          <a:xfrm>
            <a:off x="733425" y="3306960"/>
            <a:ext cx="5067300" cy="180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0" i="0" u="none" strike="noStrike" cap="non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titulo, dureza, max_jugadores...Metadatos</a:t>
            </a:r>
            <a:endParaRPr/>
          </a:p>
        </p:txBody>
      </p:sp>
      <p:sp>
        <p:nvSpPr>
          <p:cNvPr id="179" name="Google Shape;179;p17"/>
          <p:cNvSpPr/>
          <p:nvPr/>
        </p:nvSpPr>
        <p:spPr>
          <a:xfrm>
            <a:off x="6248400" y="2116335"/>
            <a:ext cx="5353050" cy="428625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17"/>
          <p:cNvSpPr txBox="1"/>
          <p:nvPr/>
        </p:nvSpPr>
        <p:spPr>
          <a:xfrm>
            <a:off x="6343650" y="2211585"/>
            <a:ext cx="5162550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ejemplares (La Caja Física)</a:t>
            </a:r>
            <a:endParaRPr/>
          </a:p>
        </p:txBody>
      </p:sp>
      <p:sp>
        <p:nvSpPr>
          <p:cNvPr id="181" name="Google Shape;181;p17"/>
          <p:cNvSpPr txBox="1"/>
          <p:nvPr/>
        </p:nvSpPr>
        <p:spPr>
          <a:xfrm>
            <a:off x="6391275" y="2621160"/>
            <a:ext cx="506730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rgbClr val="FBBF24"/>
                </a:solidFill>
                <a:latin typeface="Arial"/>
                <a:ea typeface="Arial"/>
                <a:cs typeface="Arial"/>
                <a:sym typeface="Arial"/>
              </a:rPr>
              <a:t>PK id (bigint)</a:t>
            </a:r>
            <a:r>
              <a:rPr lang="en-US" sz="1125" b="0" i="0" u="none" strike="noStrike" cap="non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Clave Primaria</a:t>
            </a:r>
            <a:endParaRPr/>
          </a:p>
        </p:txBody>
      </p:sp>
      <p:sp>
        <p:nvSpPr>
          <p:cNvPr id="182" name="Google Shape;182;p17"/>
          <p:cNvSpPr/>
          <p:nvPr/>
        </p:nvSpPr>
        <p:spPr>
          <a:xfrm>
            <a:off x="6248400" y="2878335"/>
            <a:ext cx="535305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17"/>
          <p:cNvSpPr txBox="1"/>
          <p:nvPr/>
        </p:nvSpPr>
        <p:spPr>
          <a:xfrm>
            <a:off x="6391275" y="2964060"/>
            <a:ext cx="506730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0" i="0" u="none" strike="noStrike" cap="non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codigo_local (varchar)UNIQUE (Pegatina)</a:t>
            </a:r>
            <a:endParaRPr/>
          </a:p>
        </p:txBody>
      </p:sp>
      <p:sp>
        <p:nvSpPr>
          <p:cNvPr id="184" name="Google Shape;184;p17"/>
          <p:cNvSpPr/>
          <p:nvPr/>
        </p:nvSpPr>
        <p:spPr>
          <a:xfrm>
            <a:off x="6248400" y="3221235"/>
            <a:ext cx="535305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7"/>
          <p:cNvSpPr txBox="1"/>
          <p:nvPr/>
        </p:nvSpPr>
        <p:spPr>
          <a:xfrm>
            <a:off x="6391275" y="3306960"/>
            <a:ext cx="506730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0" i="1" u="none" strike="noStrike" cap="none">
                <a:solidFill>
                  <a:srgbClr val="0EA5E9"/>
                </a:solidFill>
                <a:latin typeface="Arial"/>
                <a:ea typeface="Arial"/>
                <a:cs typeface="Arial"/>
                <a:sym typeface="Arial"/>
              </a:rPr>
              <a:t>FK juego_referencia_id</a:t>
            </a:r>
            <a:r>
              <a:rPr lang="en-US" sz="1125" b="0" i="0" u="none" strike="noStrike" cap="non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-&gt; juegos_referencia(id)</a:t>
            </a:r>
            <a:endParaRPr/>
          </a:p>
        </p:txBody>
      </p:sp>
      <p:sp>
        <p:nvSpPr>
          <p:cNvPr id="186" name="Google Shape;186;p17"/>
          <p:cNvSpPr/>
          <p:nvPr/>
        </p:nvSpPr>
        <p:spPr>
          <a:xfrm>
            <a:off x="6248400" y="3564135"/>
            <a:ext cx="535305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7"/>
          <p:cNvSpPr txBox="1"/>
          <p:nvPr/>
        </p:nvSpPr>
        <p:spPr>
          <a:xfrm>
            <a:off x="6391275" y="3649860"/>
            <a:ext cx="5067300" cy="180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0" i="0" u="none" strike="noStrike" cap="non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estado, balda, en_ventaControl físico</a:t>
            </a:r>
            <a:endParaRPr/>
          </a:p>
        </p:txBody>
      </p:sp>
      <p:sp>
        <p:nvSpPr>
          <p:cNvPr id="188" name="Google Shape;188;p17"/>
          <p:cNvSpPr/>
          <p:nvPr/>
        </p:nvSpPr>
        <p:spPr>
          <a:xfrm>
            <a:off x="590550" y="4211835"/>
            <a:ext cx="5353050" cy="428625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17"/>
          <p:cNvSpPr txBox="1"/>
          <p:nvPr/>
        </p:nvSpPr>
        <p:spPr>
          <a:xfrm>
            <a:off x="685800" y="4307085"/>
            <a:ext cx="5162550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usuarios (Socios y Admins)</a:t>
            </a:r>
            <a:endParaRPr/>
          </a:p>
        </p:txBody>
      </p:sp>
      <p:sp>
        <p:nvSpPr>
          <p:cNvPr id="190" name="Google Shape;190;p17"/>
          <p:cNvSpPr txBox="1"/>
          <p:nvPr/>
        </p:nvSpPr>
        <p:spPr>
          <a:xfrm>
            <a:off x="733425" y="4716660"/>
            <a:ext cx="506730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rgbClr val="FBBF24"/>
                </a:solidFill>
                <a:latin typeface="Arial"/>
                <a:ea typeface="Arial"/>
                <a:cs typeface="Arial"/>
                <a:sym typeface="Arial"/>
              </a:rPr>
              <a:t>PK id (bigint)</a:t>
            </a:r>
            <a:r>
              <a:rPr lang="en-US" sz="1125" b="0" i="0" u="none" strike="noStrike" cap="non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Clave Primaria</a:t>
            </a:r>
            <a:endParaRPr/>
          </a:p>
        </p:txBody>
      </p:sp>
      <p:sp>
        <p:nvSpPr>
          <p:cNvPr id="191" name="Google Shape;191;p17"/>
          <p:cNvSpPr/>
          <p:nvPr/>
        </p:nvSpPr>
        <p:spPr>
          <a:xfrm>
            <a:off x="590550" y="4973835"/>
            <a:ext cx="535305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7"/>
          <p:cNvSpPr txBox="1"/>
          <p:nvPr/>
        </p:nvSpPr>
        <p:spPr>
          <a:xfrm>
            <a:off x="733425" y="5059560"/>
            <a:ext cx="5067300" cy="180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0" i="0" u="none" strike="noStrike" cap="non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username, password, rolCredenciales</a:t>
            </a:r>
            <a:endParaRPr/>
          </a:p>
        </p:txBody>
      </p:sp>
      <p:sp>
        <p:nvSpPr>
          <p:cNvPr id="193" name="Google Shape;193;p17"/>
          <p:cNvSpPr/>
          <p:nvPr/>
        </p:nvSpPr>
        <p:spPr>
          <a:xfrm>
            <a:off x="6248400" y="4211835"/>
            <a:ext cx="5353050" cy="428625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7"/>
          <p:cNvSpPr txBox="1"/>
          <p:nvPr/>
        </p:nvSpPr>
        <p:spPr>
          <a:xfrm>
            <a:off x="6343650" y="4307085"/>
            <a:ext cx="5162550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prestamos (Transaccional)</a:t>
            </a:r>
            <a:endParaRPr/>
          </a:p>
        </p:txBody>
      </p:sp>
      <p:sp>
        <p:nvSpPr>
          <p:cNvPr id="195" name="Google Shape;195;p17"/>
          <p:cNvSpPr txBox="1"/>
          <p:nvPr/>
        </p:nvSpPr>
        <p:spPr>
          <a:xfrm>
            <a:off x="6391275" y="4716660"/>
            <a:ext cx="506730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rgbClr val="FBBF24"/>
                </a:solidFill>
                <a:latin typeface="Arial"/>
                <a:ea typeface="Arial"/>
                <a:cs typeface="Arial"/>
                <a:sym typeface="Arial"/>
              </a:rPr>
              <a:t>PK id (bigint)</a:t>
            </a:r>
            <a:r>
              <a:rPr lang="en-US" sz="1125" b="0" i="0" u="none" strike="noStrike" cap="non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Clave Primaria</a:t>
            </a:r>
            <a:endParaRPr/>
          </a:p>
        </p:txBody>
      </p:sp>
      <p:sp>
        <p:nvSpPr>
          <p:cNvPr id="196" name="Google Shape;196;p17"/>
          <p:cNvSpPr/>
          <p:nvPr/>
        </p:nvSpPr>
        <p:spPr>
          <a:xfrm>
            <a:off x="6248400" y="4973835"/>
            <a:ext cx="535305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17"/>
          <p:cNvSpPr txBox="1"/>
          <p:nvPr/>
        </p:nvSpPr>
        <p:spPr>
          <a:xfrm>
            <a:off x="6391275" y="5059560"/>
            <a:ext cx="506730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0" i="1" u="none" strike="noStrike" cap="none">
                <a:solidFill>
                  <a:srgbClr val="0EA5E9"/>
                </a:solidFill>
                <a:latin typeface="Arial"/>
                <a:ea typeface="Arial"/>
                <a:cs typeface="Arial"/>
                <a:sym typeface="Arial"/>
              </a:rPr>
              <a:t>FK ejemplar_id</a:t>
            </a:r>
            <a:r>
              <a:rPr lang="en-US" sz="1125" b="0" i="0" u="none" strike="noStrike" cap="non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-&gt; ejemplares(id)</a:t>
            </a:r>
            <a:endParaRPr/>
          </a:p>
        </p:txBody>
      </p:sp>
      <p:sp>
        <p:nvSpPr>
          <p:cNvPr id="198" name="Google Shape;198;p17"/>
          <p:cNvSpPr/>
          <p:nvPr/>
        </p:nvSpPr>
        <p:spPr>
          <a:xfrm>
            <a:off x="6248400" y="5316735"/>
            <a:ext cx="535305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17"/>
          <p:cNvSpPr txBox="1"/>
          <p:nvPr/>
        </p:nvSpPr>
        <p:spPr>
          <a:xfrm>
            <a:off x="6391275" y="5402460"/>
            <a:ext cx="506730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0" i="1" u="none" strike="noStrike" cap="none">
                <a:solidFill>
                  <a:srgbClr val="0EA5E9"/>
                </a:solidFill>
                <a:latin typeface="Arial"/>
                <a:ea typeface="Arial"/>
                <a:cs typeface="Arial"/>
                <a:sym typeface="Arial"/>
              </a:rPr>
              <a:t>FK usuario_id</a:t>
            </a:r>
            <a:r>
              <a:rPr lang="en-US" sz="1125" b="0" i="0" u="none" strike="noStrike" cap="non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-&gt; usuarios(id)</a:t>
            </a:r>
            <a:endParaRPr/>
          </a:p>
        </p:txBody>
      </p:sp>
      <p:sp>
        <p:nvSpPr>
          <p:cNvPr id="200" name="Google Shape;200;p17"/>
          <p:cNvSpPr/>
          <p:nvPr/>
        </p:nvSpPr>
        <p:spPr>
          <a:xfrm>
            <a:off x="6248400" y="5659635"/>
            <a:ext cx="535305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17"/>
          <p:cNvSpPr txBox="1"/>
          <p:nvPr/>
        </p:nvSpPr>
        <p:spPr>
          <a:xfrm>
            <a:off x="6391275" y="5745360"/>
            <a:ext cx="5067300" cy="180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0" i="0" u="none" strike="noStrike" cap="non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fecha_prestamo, fecha_limiteTrazabilidad temporal</a:t>
            </a:r>
            <a:endParaRPr/>
          </a:p>
        </p:txBody>
      </p:sp>
      <p:sp>
        <p:nvSpPr>
          <p:cNvPr id="202" name="Google Shape;202;p17"/>
          <p:cNvSpPr txBox="1"/>
          <p:nvPr/>
        </p:nvSpPr>
        <p:spPr>
          <a:xfrm>
            <a:off x="771525" y="485775"/>
            <a:ext cx="11381422" cy="542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5. Estructura de la Base de Datos</a:t>
            </a:r>
            <a:endParaRPr/>
          </a:p>
        </p:txBody>
      </p:sp>
      <p:sp>
        <p:nvSpPr>
          <p:cNvPr id="203" name="Google Shape;203;p17"/>
          <p:cNvSpPr/>
          <p:nvPr/>
        </p:nvSpPr>
        <p:spPr>
          <a:xfrm>
            <a:off x="581025" y="485775"/>
            <a:ext cx="57150" cy="542925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7"/>
          <p:cNvSpPr txBox="1"/>
          <p:nvPr/>
        </p:nvSpPr>
        <p:spPr>
          <a:xfrm>
            <a:off x="581025" y="1626840"/>
            <a:ext cx="11029950" cy="2894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Diseño relacional estructurado para evitar redundancia y garantizar la trazabilidad de inventario.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209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1" name="Google Shape;211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6248400"/>
            <a:ext cx="11029950" cy="314325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18"/>
          <p:cNvSpPr txBox="1"/>
          <p:nvPr/>
        </p:nvSpPr>
        <p:spPr>
          <a:xfrm>
            <a:off x="581025" y="6400800"/>
            <a:ext cx="1495425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LudiGest - Defensa TFG</a:t>
            </a:r>
            <a:endParaRPr/>
          </a:p>
        </p:txBody>
      </p:sp>
      <p:sp>
        <p:nvSpPr>
          <p:cNvPr id="213" name="Google Shape;213;p18"/>
          <p:cNvSpPr txBox="1"/>
          <p:nvPr/>
        </p:nvSpPr>
        <p:spPr>
          <a:xfrm>
            <a:off x="9363075" y="6400800"/>
            <a:ext cx="2247900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Resolución de Problemas (Backend)</a:t>
            </a:r>
            <a:endParaRPr/>
          </a:p>
        </p:txBody>
      </p:sp>
      <p:sp>
        <p:nvSpPr>
          <p:cNvPr id="214" name="Google Shape;214;p18"/>
          <p:cNvSpPr/>
          <p:nvPr/>
        </p:nvSpPr>
        <p:spPr>
          <a:xfrm>
            <a:off x="581025" y="3858369"/>
            <a:ext cx="5276850" cy="12573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18"/>
          <p:cNvSpPr txBox="1"/>
          <p:nvPr/>
        </p:nvSpPr>
        <p:spPr>
          <a:xfrm>
            <a:off x="723900" y="4001244"/>
            <a:ext cx="4991100" cy="971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Solución Aplicada:</a:t>
            </a:r>
            <a:r>
              <a:rPr lang="en-US" sz="1200" b="0" i="0" u="none" strike="noStrike" cap="non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b="0" i="0" u="none" strike="noStrike" cap="non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 Implementamos un motor de saneamiento en el BggSyncService y escalamos los tipos de datos en la base de datos dinámicamente (`TEXT`, `VARCHAR`). Protegimos el proceso con Pruebas de Integración y @Rollback.</a:t>
            </a:r>
            <a:endParaRPr/>
          </a:p>
        </p:txBody>
      </p:sp>
      <p:sp>
        <p:nvSpPr>
          <p:cNvPr id="216" name="Google Shape;216;p18"/>
          <p:cNvSpPr/>
          <p:nvPr/>
        </p:nvSpPr>
        <p:spPr>
          <a:xfrm>
            <a:off x="581025" y="3858369"/>
            <a:ext cx="38100" cy="12573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7" name="Google Shape;217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829675" y="3357562"/>
            <a:ext cx="28575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18"/>
          <p:cNvSpPr txBox="1"/>
          <p:nvPr/>
        </p:nvSpPr>
        <p:spPr>
          <a:xfrm>
            <a:off x="6334125" y="3881437"/>
            <a:ext cx="527685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[INSERTA AQUÍ LA CAPTURA DEL IMPORTADOR MÁGICO]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050" b="0" i="0" u="none" strike="noStrike" cap="none">
                <a:solidFill>
                  <a:srgbClr val="94A3B8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(La pantalla donde buscas por nombre y se rellena todo)</a:t>
            </a:r>
            <a:endParaRPr/>
          </a:p>
        </p:txBody>
      </p:sp>
      <p:pic>
        <p:nvPicPr>
          <p:cNvPr id="219" name="Google Shape;219;p18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81025" y="2570857"/>
            <a:ext cx="180975" cy="178296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18"/>
          <p:cNvSpPr txBox="1"/>
          <p:nvPr/>
        </p:nvSpPr>
        <p:spPr>
          <a:xfrm>
            <a:off x="771525" y="485775"/>
            <a:ext cx="11381422" cy="542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7. Dificultades y Soluciones (I) - Backend</a:t>
            </a:r>
            <a:endParaRPr/>
          </a:p>
        </p:txBody>
      </p:sp>
      <p:sp>
        <p:nvSpPr>
          <p:cNvPr id="221" name="Google Shape;221;p18"/>
          <p:cNvSpPr/>
          <p:nvPr/>
        </p:nvSpPr>
        <p:spPr>
          <a:xfrm>
            <a:off x="581025" y="485775"/>
            <a:ext cx="57150" cy="542925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8"/>
          <p:cNvSpPr txBox="1"/>
          <p:nvPr/>
        </p:nvSpPr>
        <p:spPr>
          <a:xfrm>
            <a:off x="581025" y="2523232"/>
            <a:ext cx="5540692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0975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FB7185"/>
                </a:solidFill>
                <a:latin typeface="Poppins"/>
                <a:ea typeface="Poppins"/>
                <a:cs typeface="Poppins"/>
                <a:sym typeface="Poppins"/>
              </a:rPr>
              <a:t>Reto: Ingesta BGG y Data Truncation</a:t>
            </a:r>
            <a:endParaRPr/>
          </a:p>
        </p:txBody>
      </p:sp>
      <p:sp>
        <p:nvSpPr>
          <p:cNvPr id="223" name="Google Shape;223;p18"/>
          <p:cNvSpPr txBox="1"/>
          <p:nvPr/>
        </p:nvSpPr>
        <p:spPr>
          <a:xfrm>
            <a:off x="581025" y="2799457"/>
            <a:ext cx="5276850" cy="868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Al descargar juegos externos, el XML contenía descripciones enormes y símbolos extraños que colapsaban MySQL (</a:t>
            </a:r>
            <a:r>
              <a:rPr lang="en-US" sz="1425" b="0" i="1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Data Truncation Exception</a:t>
            </a:r>
            <a:r>
              <a:rPr lang="en-US" sz="1425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).</a:t>
            </a:r>
            <a:endParaRPr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AF1EFBD3-0629-C6FA-691C-A1994BA6A85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62650" y="2154810"/>
            <a:ext cx="6084806" cy="3328440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8" name="Google Shape;228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6248400"/>
            <a:ext cx="11029950" cy="314325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19"/>
          <p:cNvSpPr txBox="1"/>
          <p:nvPr/>
        </p:nvSpPr>
        <p:spPr>
          <a:xfrm>
            <a:off x="581025" y="6400800"/>
            <a:ext cx="1495425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LudiGest - Defensa TFG</a:t>
            </a:r>
            <a:endParaRPr/>
          </a:p>
        </p:txBody>
      </p:sp>
      <p:sp>
        <p:nvSpPr>
          <p:cNvPr id="232" name="Google Shape;232;p19"/>
          <p:cNvSpPr txBox="1"/>
          <p:nvPr/>
        </p:nvSpPr>
        <p:spPr>
          <a:xfrm>
            <a:off x="9353550" y="6400800"/>
            <a:ext cx="2257425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Resolución de Problemas (Frontend)</a:t>
            </a:r>
            <a:endParaRPr/>
          </a:p>
        </p:txBody>
      </p:sp>
      <p:pic>
        <p:nvPicPr>
          <p:cNvPr id="233" name="Google Shape;233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052762" y="3357562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19"/>
          <p:cNvSpPr txBox="1"/>
          <p:nvPr/>
        </p:nvSpPr>
        <p:spPr>
          <a:xfrm>
            <a:off x="581025" y="3881437"/>
            <a:ext cx="527685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[INSERTA AQUÍ LA CAPTURA DE LA GESTIÓN DE SOCIOS]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050" b="0" i="0" u="none" strike="noStrike" cap="none">
                <a:solidFill>
                  <a:srgbClr val="94A3B8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(Para mostrar una interfaz compleja cargada de datos)</a:t>
            </a:r>
            <a:endParaRPr/>
          </a:p>
        </p:txBody>
      </p:sp>
      <p:sp>
        <p:nvSpPr>
          <p:cNvPr id="235" name="Google Shape;235;p19"/>
          <p:cNvSpPr/>
          <p:nvPr/>
        </p:nvSpPr>
        <p:spPr>
          <a:xfrm>
            <a:off x="6334125" y="3808958"/>
            <a:ext cx="5276850" cy="10668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19"/>
          <p:cNvSpPr txBox="1"/>
          <p:nvPr/>
        </p:nvSpPr>
        <p:spPr>
          <a:xfrm>
            <a:off x="6477000" y="3951833"/>
            <a:ext cx="4991100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en-US" sz="1200" b="0" i="0" u="none" strike="noStrike" cap="none" dirty="0" err="1">
                <a:solidFill>
                  <a:schemeClr val="dk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Solución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Aplicada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:</a:t>
            </a:r>
            <a:r>
              <a:rPr lang="en-US" sz="1200" b="0" i="0" u="none" strike="noStrike" cap="none" dirty="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s-ES" sz="1200" b="0" i="0" u="none" strike="noStrike" cap="none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I</a:t>
            </a:r>
            <a:r>
              <a:rPr lang="es-ES" sz="1200">
                <a:solidFill>
                  <a:schemeClr val="bg1"/>
                </a:solidFill>
              </a:rPr>
              <a:t>mplementamos </a:t>
            </a:r>
            <a:r>
              <a:rPr lang="es-ES" sz="1200" dirty="0">
                <a:solidFill>
                  <a:schemeClr val="bg1"/>
                </a:solidFill>
              </a:rPr>
              <a:t>un modelo asíncrono basado en </a:t>
            </a:r>
            <a:r>
              <a:rPr lang="es-ES" sz="1200" b="1" dirty="0">
                <a:solidFill>
                  <a:schemeClr val="bg1"/>
                </a:solidFill>
              </a:rPr>
              <a:t>promesas</a:t>
            </a:r>
            <a:r>
              <a:rPr lang="es-ES" sz="1200" dirty="0">
                <a:solidFill>
                  <a:schemeClr val="bg1"/>
                </a:solidFill>
              </a:rPr>
              <a:t>, delegando la gestión de red al cliente nativo </a:t>
            </a:r>
            <a:r>
              <a:rPr lang="es-ES" sz="1200" b="1" dirty="0" err="1">
                <a:solidFill>
                  <a:schemeClr val="bg1"/>
                </a:solidFill>
              </a:rPr>
              <a:t>HttpClient</a:t>
            </a:r>
            <a:r>
              <a:rPr lang="es-ES" sz="1200" dirty="0">
                <a:solidFill>
                  <a:schemeClr val="bg1"/>
                </a:solidFill>
              </a:rPr>
              <a:t> mediante su método </a:t>
            </a:r>
            <a:r>
              <a:rPr lang="es-ES" sz="1200" b="1" dirty="0" err="1">
                <a:solidFill>
                  <a:schemeClr val="bg1"/>
                </a:solidFill>
              </a:rPr>
              <a:t>sendAsync</a:t>
            </a:r>
            <a:r>
              <a:rPr lang="es-ES" sz="1200" b="1" dirty="0">
                <a:solidFill>
                  <a:schemeClr val="bg1"/>
                </a:solidFill>
              </a:rPr>
              <a:t> </a:t>
            </a:r>
            <a:r>
              <a:rPr lang="en-US" sz="1200" b="0" i="0" u="none" strike="noStrike" cap="none" dirty="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y </a:t>
            </a:r>
            <a:r>
              <a:rPr lang="en-US" sz="1200" b="0" i="0" u="none" strike="noStrike" cap="none" dirty="0" err="1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devolvimos</a:t>
            </a:r>
            <a:r>
              <a:rPr lang="en-US" sz="1200" b="0" i="0" u="none" strike="noStrike" cap="none" dirty="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 b="0" i="0" u="none" strike="noStrike" cap="none" dirty="0" err="1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los</a:t>
            </a:r>
            <a:r>
              <a:rPr lang="en-US" sz="1200" b="0" i="0" u="none" strike="noStrike" cap="none" dirty="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 b="0" i="0" u="none" strike="noStrike" cap="none" dirty="0" err="1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resultados</a:t>
            </a:r>
            <a:r>
              <a:rPr lang="en-US" sz="1200" b="0" i="0" u="none" strike="noStrike" cap="none" dirty="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 de forma </a:t>
            </a:r>
            <a:r>
              <a:rPr lang="en-US" sz="1200" b="0" i="0" u="none" strike="noStrike" cap="none" dirty="0" err="1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segura</a:t>
            </a:r>
            <a:r>
              <a:rPr lang="en-US" sz="1200" b="0" i="0" u="none" strike="noStrike" cap="none" dirty="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 a la </a:t>
            </a:r>
            <a:r>
              <a:rPr lang="en-US" sz="1200" b="0" i="0" u="none" strike="noStrike" cap="none" dirty="0" err="1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pantalla</a:t>
            </a:r>
            <a:r>
              <a:rPr lang="en-US" sz="1200" b="0" i="0" u="none" strike="noStrike" cap="none" dirty="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 b="0" i="0" u="none" strike="noStrike" cap="none" dirty="0" err="1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usando</a:t>
            </a:r>
            <a:r>
              <a:rPr lang="en-US" sz="1200" b="0" i="0" u="none" strike="noStrike" cap="none" dirty="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 b="0" i="0" u="none" strike="noStrike" cap="none" dirty="0" err="1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Platform.runLater</a:t>
            </a:r>
            <a:r>
              <a:rPr lang="en-US" sz="1200" b="0" i="0" u="none" strike="noStrike" cap="none" dirty="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().</a:t>
            </a:r>
            <a:endParaRPr dirty="0"/>
          </a:p>
        </p:txBody>
      </p:sp>
      <p:sp>
        <p:nvSpPr>
          <p:cNvPr id="237" name="Google Shape;237;p19"/>
          <p:cNvSpPr/>
          <p:nvPr/>
        </p:nvSpPr>
        <p:spPr>
          <a:xfrm>
            <a:off x="6334125" y="3808958"/>
            <a:ext cx="38100" cy="10668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8" name="Google Shape;238;p19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334125" y="2810916"/>
            <a:ext cx="152400" cy="178296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19"/>
          <p:cNvSpPr txBox="1"/>
          <p:nvPr/>
        </p:nvSpPr>
        <p:spPr>
          <a:xfrm>
            <a:off x="771525" y="485775"/>
            <a:ext cx="11381422" cy="542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7. Dificultades y Soluciones (II) - Frontend</a:t>
            </a:r>
            <a:endParaRPr/>
          </a:p>
        </p:txBody>
      </p:sp>
      <p:sp>
        <p:nvSpPr>
          <p:cNvPr id="240" name="Google Shape;240;p19"/>
          <p:cNvSpPr/>
          <p:nvPr/>
        </p:nvSpPr>
        <p:spPr>
          <a:xfrm>
            <a:off x="581025" y="485775"/>
            <a:ext cx="57150" cy="542925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19"/>
          <p:cNvSpPr txBox="1"/>
          <p:nvPr/>
        </p:nvSpPr>
        <p:spPr>
          <a:xfrm>
            <a:off x="6334125" y="2763291"/>
            <a:ext cx="5540692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5240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EA5E9"/>
                </a:solidFill>
                <a:latin typeface="Poppins"/>
                <a:ea typeface="Poppins"/>
                <a:cs typeface="Poppins"/>
                <a:sym typeface="Poppins"/>
              </a:rPr>
              <a:t>Reto: Congelación de la Interfaz (UI Freeze)</a:t>
            </a:r>
            <a:endParaRPr/>
          </a:p>
        </p:txBody>
      </p:sp>
      <p:sp>
        <p:nvSpPr>
          <p:cNvPr id="242" name="Google Shape;242;p19"/>
          <p:cNvSpPr txBox="1"/>
          <p:nvPr/>
        </p:nvSpPr>
        <p:spPr>
          <a:xfrm>
            <a:off x="6334125" y="3039516"/>
            <a:ext cx="5276850" cy="578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Al realizar peticiones de red pesadas, la interfaz de JavaFX se congelaba y el usuario no podía interactuar.</a:t>
            </a:r>
            <a:endParaRPr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A793B417-969F-0EE6-3205-E9476E7B7A2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7568" y="2148550"/>
            <a:ext cx="6008765" cy="3696070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80F"/>
        </a:solidFill>
        <a:effectLst/>
      </p:bgPr>
    </p:bg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7" name="Google Shape;247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9" name="Google Shape;249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6248400"/>
            <a:ext cx="11029950" cy="314325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20"/>
          <p:cNvSpPr txBox="1"/>
          <p:nvPr/>
        </p:nvSpPr>
        <p:spPr>
          <a:xfrm>
            <a:off x="581025" y="6400800"/>
            <a:ext cx="1495425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LudiGest - Defensa TFG</a:t>
            </a:r>
            <a:endParaRPr/>
          </a:p>
        </p:txBody>
      </p:sp>
      <p:sp>
        <p:nvSpPr>
          <p:cNvPr id="251" name="Google Shape;251;p20"/>
          <p:cNvSpPr txBox="1"/>
          <p:nvPr/>
        </p:nvSpPr>
        <p:spPr>
          <a:xfrm>
            <a:off x="9372600" y="6400800"/>
            <a:ext cx="2238375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Demostración Práctica (Máx. 2 min)</a:t>
            </a:r>
            <a:endParaRPr/>
          </a:p>
        </p:txBody>
      </p:sp>
      <p:pic>
        <p:nvPicPr>
          <p:cNvPr id="252" name="Google Shape;252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633787" y="3796754"/>
            <a:ext cx="14287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3" name="Google Shape;253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633787" y="4229100"/>
            <a:ext cx="14287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4" name="Google Shape;254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633787" y="4661445"/>
            <a:ext cx="142875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255" name="Google Shape;255;p20"/>
          <p:cNvSpPr txBox="1"/>
          <p:nvPr/>
        </p:nvSpPr>
        <p:spPr>
          <a:xfrm>
            <a:off x="1365408" y="1807071"/>
            <a:ext cx="9461182" cy="1009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250" b="1" i="0" u="none" strike="noStrike" cap="none">
                <a:solidFill>
                  <a:srgbClr val="0EA5E9"/>
                </a:solidFill>
                <a:latin typeface="Poppins"/>
                <a:ea typeface="Poppins"/>
                <a:cs typeface="Poppins"/>
                <a:sym typeface="Poppins"/>
              </a:rPr>
              <a:t>6. DEMOSTRACIÓN EN VIVO</a:t>
            </a:r>
            <a:endParaRPr/>
          </a:p>
        </p:txBody>
      </p:sp>
      <p:sp>
        <p:nvSpPr>
          <p:cNvPr id="256" name="Google Shape;256;p20"/>
          <p:cNvSpPr txBox="1"/>
          <p:nvPr/>
        </p:nvSpPr>
        <p:spPr>
          <a:xfrm>
            <a:off x="4552950" y="3007221"/>
            <a:ext cx="3086100" cy="36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Flujo Completo de Ejecución</a:t>
            </a:r>
            <a:endParaRPr/>
          </a:p>
        </p:txBody>
      </p:sp>
      <p:sp>
        <p:nvSpPr>
          <p:cNvPr id="257" name="Google Shape;257;p20"/>
          <p:cNvSpPr txBox="1"/>
          <p:nvPr/>
        </p:nvSpPr>
        <p:spPr>
          <a:xfrm>
            <a:off x="4014787" y="3753891"/>
            <a:ext cx="4543425" cy="2894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1. </a:t>
            </a:r>
            <a:r>
              <a:rPr lang="en-US" sz="1425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Importación</a:t>
            </a:r>
            <a:r>
              <a:rPr lang="en-US" sz="1425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425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automatizada</a:t>
            </a:r>
            <a:r>
              <a:rPr lang="en-US" sz="1425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425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desde</a:t>
            </a:r>
            <a:r>
              <a:rPr lang="en-US" sz="1425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425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BoardGameGeek</a:t>
            </a:r>
            <a:r>
              <a:rPr lang="en-US" sz="1425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dirty="0"/>
          </a:p>
        </p:txBody>
      </p:sp>
      <p:sp>
        <p:nvSpPr>
          <p:cNvPr id="258" name="Google Shape;258;p20"/>
          <p:cNvSpPr txBox="1"/>
          <p:nvPr/>
        </p:nvSpPr>
        <p:spPr>
          <a:xfrm>
            <a:off x="4014787" y="4186237"/>
            <a:ext cx="4543425" cy="2894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2. </a:t>
            </a:r>
            <a:r>
              <a:rPr lang="en-US" sz="1425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Creación</a:t>
            </a:r>
            <a:r>
              <a:rPr lang="en-US" sz="1425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de un </a:t>
            </a:r>
            <a:r>
              <a:rPr lang="en-US" sz="1425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Ejemplar</a:t>
            </a:r>
            <a:r>
              <a:rPr lang="en-US" sz="1425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425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físico</a:t>
            </a:r>
            <a:r>
              <a:rPr lang="en-US" sz="1425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425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en</a:t>
            </a:r>
            <a:r>
              <a:rPr lang="en-US" sz="1425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425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el</a:t>
            </a:r>
            <a:r>
              <a:rPr lang="en-US" sz="1425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425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inventario</a:t>
            </a:r>
            <a:r>
              <a:rPr lang="en-US" sz="1425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dirty="0"/>
          </a:p>
        </p:txBody>
      </p:sp>
      <p:sp>
        <p:nvSpPr>
          <p:cNvPr id="259" name="Google Shape;259;p20"/>
          <p:cNvSpPr txBox="1"/>
          <p:nvPr/>
        </p:nvSpPr>
        <p:spPr>
          <a:xfrm>
            <a:off x="4014787" y="4618583"/>
            <a:ext cx="4543425" cy="2894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3. </a:t>
            </a:r>
            <a:r>
              <a:rPr lang="en-US" sz="1425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Filtrado</a:t>
            </a:r>
            <a:r>
              <a:rPr lang="en-US" sz="1425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425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reactivo</a:t>
            </a:r>
            <a:r>
              <a:rPr lang="en-US" sz="1425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Zero-Lag </a:t>
            </a:r>
            <a:r>
              <a:rPr lang="en-US" sz="1425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en</a:t>
            </a:r>
            <a:r>
              <a:rPr lang="en-US" sz="1425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425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el</a:t>
            </a:r>
            <a:r>
              <a:rPr lang="en-US" sz="1425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425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catálogo</a:t>
            </a:r>
            <a:r>
              <a:rPr lang="en-US" sz="1425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principal.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4" name="Google Shape;264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6" name="Google Shape;266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421433"/>
            <a:ext cx="5395912" cy="2796182"/>
          </a:xfrm>
          <a:prstGeom prst="rect">
            <a:avLst/>
          </a:prstGeom>
          <a:noFill/>
          <a:ln>
            <a:noFill/>
          </a:ln>
        </p:spPr>
      </p:pic>
      <p:pic>
        <p:nvPicPr>
          <p:cNvPr id="267" name="Google Shape;267;p21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15062" y="2421433"/>
            <a:ext cx="5395912" cy="2796182"/>
          </a:xfrm>
          <a:prstGeom prst="rect">
            <a:avLst/>
          </a:prstGeom>
          <a:noFill/>
          <a:ln>
            <a:noFill/>
          </a:ln>
        </p:spPr>
      </p:pic>
      <p:pic>
        <p:nvPicPr>
          <p:cNvPr id="268" name="Google Shape;268;p21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81025" y="6248400"/>
            <a:ext cx="11029950" cy="314325"/>
          </a:xfrm>
          <a:prstGeom prst="rect">
            <a:avLst/>
          </a:prstGeom>
          <a:noFill/>
          <a:ln>
            <a:noFill/>
          </a:ln>
        </p:spPr>
      </p:pic>
      <p:sp>
        <p:nvSpPr>
          <p:cNvPr id="269" name="Google Shape;269;p21"/>
          <p:cNvSpPr txBox="1"/>
          <p:nvPr/>
        </p:nvSpPr>
        <p:spPr>
          <a:xfrm>
            <a:off x="581025" y="6400800"/>
            <a:ext cx="1495425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LudiGest - Defensa TFG</a:t>
            </a:r>
            <a:endParaRPr/>
          </a:p>
        </p:txBody>
      </p:sp>
      <p:sp>
        <p:nvSpPr>
          <p:cNvPr id="270" name="Google Shape;270;p21"/>
          <p:cNvSpPr txBox="1"/>
          <p:nvPr/>
        </p:nvSpPr>
        <p:spPr>
          <a:xfrm>
            <a:off x="9963150" y="6400800"/>
            <a:ext cx="1647825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Escalabilidad del Proyecto</a:t>
            </a:r>
            <a:endParaRPr/>
          </a:p>
        </p:txBody>
      </p:sp>
      <p:pic>
        <p:nvPicPr>
          <p:cNvPr id="271" name="Google Shape;271;p21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76300" y="2783383"/>
            <a:ext cx="257175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p21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510337" y="2783383"/>
            <a:ext cx="342900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21"/>
          <p:cNvSpPr txBox="1"/>
          <p:nvPr/>
        </p:nvSpPr>
        <p:spPr>
          <a:xfrm>
            <a:off x="771525" y="485775"/>
            <a:ext cx="11381422" cy="542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8. Mejoras Futuras</a:t>
            </a:r>
            <a:endParaRPr/>
          </a:p>
        </p:txBody>
      </p:sp>
      <p:sp>
        <p:nvSpPr>
          <p:cNvPr id="274" name="Google Shape;274;p21"/>
          <p:cNvSpPr/>
          <p:nvPr/>
        </p:nvSpPr>
        <p:spPr>
          <a:xfrm>
            <a:off x="581025" y="485775"/>
            <a:ext cx="57150" cy="542925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21"/>
          <p:cNvSpPr txBox="1"/>
          <p:nvPr/>
        </p:nvSpPr>
        <p:spPr>
          <a:xfrm>
            <a:off x="876300" y="3307258"/>
            <a:ext cx="504563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App Móvil para Socios</a:t>
            </a:r>
            <a:endParaRPr/>
          </a:p>
        </p:txBody>
      </p:sp>
      <p:sp>
        <p:nvSpPr>
          <p:cNvPr id="276" name="Google Shape;276;p21"/>
          <p:cNvSpPr txBox="1"/>
          <p:nvPr/>
        </p:nvSpPr>
        <p:spPr>
          <a:xfrm>
            <a:off x="876300" y="3764458"/>
            <a:ext cx="4805362" cy="1157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Al tener una API REST completamente desacoplada, el siguiente paso lógico es desarrollar un cliente en Kotlin o Flutter para que los socios consulten el catálogo desde su bolsillo.</a:t>
            </a:r>
            <a:endParaRPr/>
          </a:p>
        </p:txBody>
      </p:sp>
      <p:sp>
        <p:nvSpPr>
          <p:cNvPr id="277" name="Google Shape;277;p21"/>
          <p:cNvSpPr txBox="1"/>
          <p:nvPr/>
        </p:nvSpPr>
        <p:spPr>
          <a:xfrm>
            <a:off x="6510337" y="3307258"/>
            <a:ext cx="504563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Sistema Kiosko (Código de Barras)</a:t>
            </a:r>
            <a:endParaRPr/>
          </a:p>
        </p:txBody>
      </p:sp>
      <p:sp>
        <p:nvSpPr>
          <p:cNvPr id="278" name="Google Shape;278;p21"/>
          <p:cNvSpPr txBox="1"/>
          <p:nvPr/>
        </p:nvSpPr>
        <p:spPr>
          <a:xfrm>
            <a:off x="6510337" y="3764458"/>
            <a:ext cx="4805362" cy="868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Aprovechar el campo codigo_local de los ejemplares para integrar un lector óptico, permitiendo automatizar el alta y devolución de préstamos mediante escaneo.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3" name="Google Shape;283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5" name="Google Shape;285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2426940"/>
            <a:ext cx="5276850" cy="278502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6" name="Google Shape;286;p2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81025" y="6248400"/>
            <a:ext cx="11029950" cy="314325"/>
          </a:xfrm>
          <a:prstGeom prst="rect">
            <a:avLst/>
          </a:prstGeom>
          <a:noFill/>
          <a:ln>
            <a:noFill/>
          </a:ln>
        </p:spPr>
      </p:pic>
      <p:sp>
        <p:nvSpPr>
          <p:cNvPr id="287" name="Google Shape;287;p22"/>
          <p:cNvSpPr txBox="1"/>
          <p:nvPr/>
        </p:nvSpPr>
        <p:spPr>
          <a:xfrm>
            <a:off x="581025" y="6400800"/>
            <a:ext cx="1495425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LudiGest - Defensa TFG</a:t>
            </a:r>
            <a:endParaRPr/>
          </a:p>
        </p:txBody>
      </p:sp>
      <p:sp>
        <p:nvSpPr>
          <p:cNvPr id="288" name="Google Shape;288;p22"/>
          <p:cNvSpPr txBox="1"/>
          <p:nvPr/>
        </p:nvSpPr>
        <p:spPr>
          <a:xfrm>
            <a:off x="10239375" y="6400800"/>
            <a:ext cx="1371600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Fin de la Presentación</a:t>
            </a:r>
            <a:endParaRPr/>
          </a:p>
        </p:txBody>
      </p:sp>
      <p:pic>
        <p:nvPicPr>
          <p:cNvPr id="289" name="Google Shape;289;p22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615362" y="2817465"/>
            <a:ext cx="714375" cy="571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0" name="Google Shape;290;p22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81025" y="3425279"/>
            <a:ext cx="17145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91" name="Google Shape;291;p22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81025" y="4147095"/>
            <a:ext cx="17145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92" name="Google Shape;292;p22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81025" y="4868912"/>
            <a:ext cx="171450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293" name="Google Shape;293;p22"/>
          <p:cNvSpPr txBox="1"/>
          <p:nvPr/>
        </p:nvSpPr>
        <p:spPr>
          <a:xfrm>
            <a:off x="771525" y="485775"/>
            <a:ext cx="11381422" cy="542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9. Conclusiones Personales</a:t>
            </a:r>
            <a:endParaRPr/>
          </a:p>
        </p:txBody>
      </p:sp>
      <p:sp>
        <p:nvSpPr>
          <p:cNvPr id="294" name="Google Shape;294;p22"/>
          <p:cNvSpPr/>
          <p:nvPr/>
        </p:nvSpPr>
        <p:spPr>
          <a:xfrm>
            <a:off x="581025" y="485775"/>
            <a:ext cx="57150" cy="542925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22"/>
          <p:cNvSpPr txBox="1"/>
          <p:nvPr/>
        </p:nvSpPr>
        <p:spPr>
          <a:xfrm>
            <a:off x="581025" y="2091183"/>
            <a:ext cx="5276850" cy="10054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Este Trabajo de Fin de Grado me ha permitido enfrentarme al ciclo de vida completo de un software profesional:</a:t>
            </a:r>
            <a:endParaRPr/>
          </a:p>
        </p:txBody>
      </p:sp>
      <p:sp>
        <p:nvSpPr>
          <p:cNvPr id="296" name="Google Shape;296;p22"/>
          <p:cNvSpPr txBox="1"/>
          <p:nvPr/>
        </p:nvSpPr>
        <p:spPr>
          <a:xfrm>
            <a:off x="6612255" y="3579465"/>
            <a:ext cx="472059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Objetivo Cumplido</a:t>
            </a:r>
            <a:endParaRPr/>
          </a:p>
        </p:txBody>
      </p:sp>
      <p:sp>
        <p:nvSpPr>
          <p:cNvPr id="297" name="Google Shape;297;p22"/>
          <p:cNvSpPr txBox="1"/>
          <p:nvPr/>
        </p:nvSpPr>
        <p:spPr>
          <a:xfrm>
            <a:off x="6724650" y="3998565"/>
            <a:ext cx="4495800" cy="822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LudiGest no es solo un proyecto académico; es una solución real y funcional lista para ser desplegada en producción.</a:t>
            </a:r>
            <a:endParaRPr/>
          </a:p>
        </p:txBody>
      </p:sp>
      <p:sp>
        <p:nvSpPr>
          <p:cNvPr id="298" name="Google Shape;298;p22"/>
          <p:cNvSpPr txBox="1"/>
          <p:nvPr/>
        </p:nvSpPr>
        <p:spPr>
          <a:xfrm>
            <a:off x="962025" y="3382416"/>
            <a:ext cx="4895850" cy="578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Comprensión profunda de la </a:t>
            </a:r>
            <a:r>
              <a:rPr lang="en-US" sz="1425" b="0" i="0" u="none" strike="noStrike" cap="non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arquitectura y patrones de diseño</a:t>
            </a:r>
            <a:r>
              <a:rPr lang="en-US" sz="1425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(MVC, REST, DTOs).</a:t>
            </a:r>
            <a:endParaRPr/>
          </a:p>
        </p:txBody>
      </p:sp>
      <p:sp>
        <p:nvSpPr>
          <p:cNvPr id="299" name="Google Shape;299;p22"/>
          <p:cNvSpPr txBox="1"/>
          <p:nvPr/>
        </p:nvSpPr>
        <p:spPr>
          <a:xfrm>
            <a:off x="962025" y="4104233"/>
            <a:ext cx="4895850" cy="578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Manejo real de </a:t>
            </a:r>
            <a:r>
              <a:rPr lang="en-US" sz="1425" b="0" i="0" u="none" strike="noStrike" cap="non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concurrencia y bases de datos</a:t>
            </a:r>
            <a:r>
              <a:rPr lang="en-US" sz="1425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transaccionales.</a:t>
            </a:r>
            <a:endParaRPr/>
          </a:p>
        </p:txBody>
      </p:sp>
      <p:sp>
        <p:nvSpPr>
          <p:cNvPr id="300" name="Google Shape;300;p22"/>
          <p:cNvSpPr txBox="1"/>
          <p:nvPr/>
        </p:nvSpPr>
        <p:spPr>
          <a:xfrm>
            <a:off x="962025" y="4826049"/>
            <a:ext cx="4895850" cy="578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Valor de escribir </a:t>
            </a:r>
            <a:r>
              <a:rPr lang="en-US" sz="1425" b="0" i="0" u="none" strike="noStrike" cap="non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código limpio, escalable</a:t>
            </a:r>
            <a:r>
              <a:rPr lang="en-US" sz="1425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y protegido contra fallos externos (APIs).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5" name="Google Shape;305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6" name="Google Shape;306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29150" y="4436715"/>
            <a:ext cx="238125" cy="1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23"/>
          <p:cNvSpPr txBox="1"/>
          <p:nvPr/>
        </p:nvSpPr>
        <p:spPr>
          <a:xfrm>
            <a:off x="2755582" y="2211734"/>
            <a:ext cx="6680835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u="none" strike="noStrike" cap="non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Muchas Gracias</a:t>
            </a:r>
            <a:endParaRPr/>
          </a:p>
        </p:txBody>
      </p:sp>
      <p:sp>
        <p:nvSpPr>
          <p:cNvPr id="308" name="Google Shape;308;p23"/>
          <p:cNvSpPr txBox="1"/>
          <p:nvPr/>
        </p:nvSpPr>
        <p:spPr>
          <a:xfrm>
            <a:off x="4500562" y="3449984"/>
            <a:ext cx="3190875" cy="396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Turno abierto de preguntas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153</TotalTime>
  <Words>986</Words>
  <Application>Microsoft Office PowerPoint</Application>
  <PresentationFormat>Panorámica</PresentationFormat>
  <Paragraphs>92</Paragraphs>
  <Slides>11</Slides>
  <Notes>11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8" baseType="lpstr">
      <vt:lpstr>Inter SemiBold</vt:lpstr>
      <vt:lpstr>Poppins</vt:lpstr>
      <vt:lpstr>Inter</vt:lpstr>
      <vt:lpstr>Poppins SemiBold</vt:lpstr>
      <vt:lpstr>Calibri</vt:lpstr>
      <vt:lpstr>Arial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Alejandro Muñoz de la Sierra</dc:creator>
  <cp:lastModifiedBy>Alejandro Muñoz de la Sierra</cp:lastModifiedBy>
  <cp:revision>16</cp:revision>
  <dcterms:modified xsi:type="dcterms:W3CDTF">2026-05-11T08:39:44Z</dcterms:modified>
</cp:coreProperties>
</file>