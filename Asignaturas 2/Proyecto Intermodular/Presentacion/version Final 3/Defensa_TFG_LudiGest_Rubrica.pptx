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  <p:sldId id="266" r:id="rId12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SemiBold" panose="000007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3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476625" y="4541490"/>
            <a:ext cx="5393998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Alumno</a:t>
            </a:r>
            <a:r>
              <a:rPr lang="en-US" sz="1350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Alejandro Muñoz de la Sierra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Profesor</a:t>
            </a:r>
            <a:r>
              <a:rPr lang="en-US" sz="1350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Alejandro Rioja Chocron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Desarrollo de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Aplicaciones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Multiplataforma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Cesur | Mayo de 2026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200763" y="2259359"/>
            <a:ext cx="3790473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75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LudiGest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176587" y="3669059"/>
            <a:ext cx="58388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Plataforma Intermodular de Gestión de Ludotecas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10277475" y="6400800"/>
            <a:ext cx="1333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Problema y Objetivos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82050" y="33575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3341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DEL CATÁLOGO]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(Para mostrar cómo se ve el objetivo final cumplido)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777704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499520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522133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1. Problema y 2. Objetivos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81025" y="1738758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7185"/>
                </a:solidFill>
                <a:latin typeface="Poppins"/>
                <a:ea typeface="Poppins"/>
                <a:cs typeface="Poppins"/>
                <a:sym typeface="Poppins"/>
              </a:rPr>
              <a:t>El Problema Detectado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581025" y="2014983"/>
            <a:ext cx="527685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Las asociaciones de juegos sufren un caos logístico: inventarios en Excel desactualizados, metadatos tecleados a mano propensos a errores y falta de trazabilidad en los préstamos físicos.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81025" y="3458616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Objetivos de LudiGest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962025" y="3734841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Automatización: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Ingesta de datos directa desde la API de BoardGameGeek (BGG).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962025" y="4456658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Trazabilidad Física: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Separar la "ficha del juego" de la "caja física" (Ejemplar).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62025" y="5178474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Reactividad: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Búsqueda y filtrado instantáneo para socios sin saturar la base de datos.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22DABF-4040-6485-62AD-89B8150DCD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378" y="330744"/>
            <a:ext cx="5270597" cy="297621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D02185E-CE40-3867-5A5D-C81F4DAF87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4125" y="3360834"/>
            <a:ext cx="5289429" cy="267742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19497"/>
            <a:ext cx="3517850" cy="3533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7000" y="2419498"/>
            <a:ext cx="3517850" cy="3533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2975" y="2419497"/>
            <a:ext cx="3517850" cy="353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0458450" y="6400800"/>
            <a:ext cx="1152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Stack Tecnológico</a:t>
            </a:r>
            <a:endParaRPr/>
          </a:p>
        </p:txBody>
      </p:sp>
      <p:pic>
        <p:nvPicPr>
          <p:cNvPr id="124" name="Google Shape;12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781448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632275" y="2781448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88250" y="2781448"/>
            <a:ext cx="3048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3. Tecnologías y su Justificación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581025" y="1844278"/>
            <a:ext cx="110299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Decisiones técnicas basadas en el rendimiento, la escalabilidad y la separación de responsabilidades.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" y="3305323"/>
            <a:ext cx="307366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Backend: Spring Boot 4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76300" y="3762523"/>
            <a:ext cx="29273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</a:t>
            </a:r>
            <a:r>
              <a:rPr lang="en-US" sz="1425" b="0" i="0" u="none" strike="noStrike" cap="none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qué</a:t>
            </a:r>
            <a:r>
              <a:rPr lang="en-US" sz="1425" b="0" i="0" u="none" strike="noStrike" cap="none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?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Porque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permite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crear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API RESTful robusta y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segura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 Usa Jakarta Validation para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blindar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antes de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guardarlos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aisla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lógica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negocio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4632275" y="3305323"/>
            <a:ext cx="307366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Frontend: JavaFX 21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4632275" y="3762523"/>
            <a:ext cx="29273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qué?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Ofrece renderizado por hardware y nos permite separar la vista (.fxml) de la lógica (Controllers), inyectando CSS para un tema "Océano y Coral" unificado.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8388250" y="3305323"/>
            <a:ext cx="307366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BD: MySQL 8 &amp; Hibernate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8388250" y="3762523"/>
            <a:ext cx="29273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¿Por qué?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MySQL asegura integridad relacional (ACID). Hibernate mapea nuestros objetos Java a tablas SQL automáticamente, ahorrando código repetitivo (Boilerplate).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10172700" y="64008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Arquitectura Multicapa</a:t>
            </a:r>
            <a:endParaRPr/>
          </a:p>
        </p:txBody>
      </p:sp>
      <p:pic>
        <p:nvPicPr>
          <p:cNvPr id="147" name="Google Shape;14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23105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663404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38522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510703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4. Arquitectura del Sistema</a:t>
            </a:r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581025" y="1853058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Cliente - Servidor (N-Tier)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581025" y="2129283"/>
            <a:ext cx="52768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está completamente desacoplado. El frontend podría ser una App Móvil mañana mismo porque el backend es independiente.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62025" y="3188196"/>
            <a:ext cx="48958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Presentación: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JavaFX realiza peticiones HTTP.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62025" y="3620541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Control (REST):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Los Controllers validan y enrutan.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62025" y="4342358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Servicio: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Aquí reside el BggSyncService que piensa y calcula.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962025" y="5064174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Capa de Persistencia: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Los Repositories hablan con MySQL.</a:t>
            </a:r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AC8A46C-3C80-17ED-EA5C-64E34AE484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0222" y="143111"/>
            <a:ext cx="2398453" cy="595341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0C0C20AD-307A-59AA-DB65-5E9431BB48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7179" y="150976"/>
            <a:ext cx="2728439" cy="594555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068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1068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23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2310"/>
            <a:ext cx="537210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7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10048875" y="6400800"/>
            <a:ext cx="15621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Modelo Entidad-Relación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90550" y="2116335"/>
            <a:ext cx="5353050" cy="4286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685800" y="22115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juegos_referencia (La Ficha Teórica)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733425" y="26211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75" name="Google Shape;175;p17"/>
          <p:cNvSpPr/>
          <p:nvPr/>
        </p:nvSpPr>
        <p:spPr>
          <a:xfrm>
            <a:off x="590550" y="28783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733425" y="29640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id_bgg (bigint)UNIQUE (BoardGameGeek)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590550" y="32212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733425" y="33069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titulo, dureza, max_jugadores...Metadatos</a:t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6248400" y="2116335"/>
            <a:ext cx="5353050" cy="428625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6343650" y="22115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ejemplares (La Caja Física)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6391275" y="26211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6248400" y="28783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6391275" y="29640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codigo_local (varchar)UNIQUE (Pegatina)</a:t>
            </a:r>
            <a:endParaRPr/>
          </a:p>
        </p:txBody>
      </p:sp>
      <p:sp>
        <p:nvSpPr>
          <p:cNvPr id="184" name="Google Shape;184;p17"/>
          <p:cNvSpPr/>
          <p:nvPr/>
        </p:nvSpPr>
        <p:spPr>
          <a:xfrm>
            <a:off x="6248400" y="32212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6391275" y="33069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juego_referencia_id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juegos_referencia(id)</a:t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6248400" y="35641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6391275" y="36498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estado, balda, en_ventaControl físico</a:t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590550" y="4211835"/>
            <a:ext cx="5353050" cy="4286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685800" y="43070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usuarios (Socios y Admins)</a:t>
            </a:r>
            <a:endParaRPr/>
          </a:p>
        </p:txBody>
      </p:sp>
      <p:sp>
        <p:nvSpPr>
          <p:cNvPr id="190" name="Google Shape;190;p17"/>
          <p:cNvSpPr txBox="1"/>
          <p:nvPr/>
        </p:nvSpPr>
        <p:spPr>
          <a:xfrm>
            <a:off x="733425" y="47166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91" name="Google Shape;191;p17"/>
          <p:cNvSpPr/>
          <p:nvPr/>
        </p:nvSpPr>
        <p:spPr>
          <a:xfrm>
            <a:off x="590550" y="49738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733425" y="50595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username, password, rolCredenciales</a:t>
            </a:r>
            <a:endParaRPr/>
          </a:p>
        </p:txBody>
      </p:sp>
      <p:sp>
        <p:nvSpPr>
          <p:cNvPr id="193" name="Google Shape;193;p17"/>
          <p:cNvSpPr/>
          <p:nvPr/>
        </p:nvSpPr>
        <p:spPr>
          <a:xfrm>
            <a:off x="6248400" y="4211835"/>
            <a:ext cx="5353050" cy="428625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6343650" y="4307085"/>
            <a:ext cx="51625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prestamos (Transaccional)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6391275" y="47166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PK id (bigint)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Clave Primaria</a:t>
            </a:r>
            <a:endParaRPr/>
          </a:p>
        </p:txBody>
      </p:sp>
      <p:sp>
        <p:nvSpPr>
          <p:cNvPr id="196" name="Google Shape;196;p17"/>
          <p:cNvSpPr/>
          <p:nvPr/>
        </p:nvSpPr>
        <p:spPr>
          <a:xfrm>
            <a:off x="6248400" y="49738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6391275" y="50595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ejemplar_id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ejemplares(id)</a:t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6248400" y="53167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6391275" y="5402460"/>
            <a:ext cx="5067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1" u="none" strike="noStrike" cap="none">
                <a:solidFill>
                  <a:srgbClr val="0EA5E9"/>
                </a:solidFill>
                <a:latin typeface="Arial"/>
                <a:ea typeface="Arial"/>
                <a:cs typeface="Arial"/>
                <a:sym typeface="Arial"/>
              </a:rPr>
              <a:t>FK usuario_id</a:t>
            </a: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-&gt; usuarios(id)</a:t>
            </a:r>
            <a:endParaRPr/>
          </a:p>
        </p:txBody>
      </p:sp>
      <p:sp>
        <p:nvSpPr>
          <p:cNvPr id="200" name="Google Shape;200;p17"/>
          <p:cNvSpPr/>
          <p:nvPr/>
        </p:nvSpPr>
        <p:spPr>
          <a:xfrm>
            <a:off x="6248400" y="5659635"/>
            <a:ext cx="5353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6391275" y="5745360"/>
            <a:ext cx="50673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fecha_prestamo, fecha_limiteTrazabilidad temporal</a:t>
            </a:r>
            <a:endParaRPr/>
          </a:p>
        </p:txBody>
      </p:sp>
      <p:sp>
        <p:nvSpPr>
          <p:cNvPr id="202" name="Google Shape;202;p17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5. Estructura de la Base de Datos</a:t>
            </a:r>
            <a:endParaRPr/>
          </a:p>
        </p:txBody>
      </p:sp>
      <p:sp>
        <p:nvSpPr>
          <p:cNvPr id="203" name="Google Shape;203;p17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581025" y="1626840"/>
            <a:ext cx="1102995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Diseño relacional estructurado para evitar redundancia y garantizar la trazabilidad de inventario.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9363075" y="6400800"/>
            <a:ext cx="22479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Resolución de Problemas (Backend)</a:t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581025" y="3858369"/>
            <a:ext cx="5276850" cy="12573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723900" y="4001244"/>
            <a:ext cx="49911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Solución Aplicada: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Implementamos un motor de saneamiento en el BggSyncService y escalamos los tipos de datos en la base de datos dinámicamente (`TEXT`, `VARCHAR`). Protegimos el proceso con Pruebas de Integración y @Rollback.</a:t>
            </a: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581025" y="3858369"/>
            <a:ext cx="38100" cy="12573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29675" y="3357562"/>
            <a:ext cx="2857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8"/>
          <p:cNvSpPr txBox="1"/>
          <p:nvPr/>
        </p:nvSpPr>
        <p:spPr>
          <a:xfrm>
            <a:off x="63341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DEL IMPORTADOR MÁGICO]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(La pantalla donde buscas por nombre y se rellena todo)</a:t>
            </a:r>
            <a:endParaRPr/>
          </a:p>
        </p:txBody>
      </p:sp>
      <p:pic>
        <p:nvPicPr>
          <p:cNvPr id="219" name="Google Shape;21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570857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8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7. Dificultades y Soluciones (I) - Backend</a:t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 txBox="1"/>
          <p:nvPr/>
        </p:nvSpPr>
        <p:spPr>
          <a:xfrm>
            <a:off x="581025" y="2523232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7185"/>
                </a:solidFill>
                <a:latin typeface="Poppins"/>
                <a:ea typeface="Poppins"/>
                <a:cs typeface="Poppins"/>
                <a:sym typeface="Poppins"/>
              </a:rPr>
              <a:t>Reto: Ingesta BGG y Data Truncation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581025" y="2799457"/>
            <a:ext cx="52768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descargar juegos externos, el XML contenía descripciones enormes y símbolos extraños que colapsaban MySQL (</a:t>
            </a:r>
            <a:r>
              <a:rPr lang="en-US" sz="1425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 Truncation Exception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F1EFBD3-0629-C6FA-691C-A1994BA6A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2650" y="2154810"/>
            <a:ext cx="6084806" cy="332844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9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9353550" y="6400800"/>
            <a:ext cx="2257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Resolución de Problemas (Frontend)</a:t>
            </a:r>
            <a:endParaRPr/>
          </a:p>
        </p:txBody>
      </p:sp>
      <p:pic>
        <p:nvPicPr>
          <p:cNvPr id="233" name="Google Shape;233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52762" y="335756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9"/>
          <p:cNvSpPr txBox="1"/>
          <p:nvPr/>
        </p:nvSpPr>
        <p:spPr>
          <a:xfrm>
            <a:off x="581025" y="3881437"/>
            <a:ext cx="52768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[INSERTA AQUÍ LA CAPTURA DE LA GESTIÓN DE SOCIOS]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94A3B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(Para mostrar una interfaz compleja cargada de datos)</a:t>
            </a:r>
            <a:endParaRPr/>
          </a:p>
        </p:txBody>
      </p:sp>
      <p:sp>
        <p:nvSpPr>
          <p:cNvPr id="235" name="Google Shape;235;p19"/>
          <p:cNvSpPr/>
          <p:nvPr/>
        </p:nvSpPr>
        <p:spPr>
          <a:xfrm>
            <a:off x="6334125" y="3808958"/>
            <a:ext cx="5276850" cy="1066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6477000" y="3951833"/>
            <a:ext cx="499110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Solución Aplicada: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Implementación estricta de multithreading. Usamos Task para aislar las llamadas HTTP en hilos secundarios, y devolvimos los resultados de forma segura a la pantalla usando Platform.runLater().</a:t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6334125" y="3808958"/>
            <a:ext cx="38100" cy="1066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2810916"/>
            <a:ext cx="152400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9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7. Dificultades y Soluciones (II) - Frontend</a:t>
            </a:r>
            <a:endParaRPr/>
          </a:p>
        </p:txBody>
      </p:sp>
      <p:sp>
        <p:nvSpPr>
          <p:cNvPr id="240" name="Google Shape;240;p19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6334125" y="2763291"/>
            <a:ext cx="554069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Reto: Congelación de la Interfaz (UI Freeze)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6334125" y="3039516"/>
            <a:ext cx="5276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realizar peticiones de red pesadas, la interfaz de JavaFX se congelaba y el usuario no podía interactuar.</a:t>
            </a:r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93B417-969F-0EE6-3205-E9476E7B7A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568" y="2148550"/>
            <a:ext cx="6008765" cy="369607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21433"/>
            <a:ext cx="5395912" cy="27961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15062" y="2421433"/>
            <a:ext cx="5395912" cy="27961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70" name="Google Shape;270;p21"/>
          <p:cNvSpPr txBox="1"/>
          <p:nvPr/>
        </p:nvSpPr>
        <p:spPr>
          <a:xfrm>
            <a:off x="9963150" y="6400800"/>
            <a:ext cx="16478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Escalabilidad del Proyecto</a:t>
            </a:r>
            <a:endParaRPr/>
          </a:p>
        </p:txBody>
      </p:sp>
      <p:pic>
        <p:nvPicPr>
          <p:cNvPr id="271" name="Google Shape;271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783383"/>
            <a:ext cx="2571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10337" y="2783383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1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8. Mejoras Futuras</a:t>
            </a:r>
            <a:endParaRPr/>
          </a:p>
        </p:txBody>
      </p:sp>
      <p:sp>
        <p:nvSpPr>
          <p:cNvPr id="274" name="Google Shape;274;p21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1"/>
          <p:cNvSpPr txBox="1"/>
          <p:nvPr/>
        </p:nvSpPr>
        <p:spPr>
          <a:xfrm>
            <a:off x="876300" y="3307258"/>
            <a:ext cx="504563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App Móvil para Socios</a:t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876300" y="3764458"/>
            <a:ext cx="4805362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 tener una API REST completamente desacoplada, el siguiente paso lógico es desarrollar un cliente en Kotlin o Flutter para que los socios consulten el catálogo desde su bolsillo.</a:t>
            </a:r>
            <a:endParaRPr/>
          </a:p>
        </p:txBody>
      </p:sp>
      <p:sp>
        <p:nvSpPr>
          <p:cNvPr id="277" name="Google Shape;277;p21"/>
          <p:cNvSpPr txBox="1"/>
          <p:nvPr/>
        </p:nvSpPr>
        <p:spPr>
          <a:xfrm>
            <a:off x="6510337" y="3307258"/>
            <a:ext cx="504563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Sistema Kiosko (Código de Barras)</a:t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6510337" y="3764458"/>
            <a:ext cx="4805362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Aprovechar el campo codigo_local de los ejemplares para integrar un lector óptico, permitiendo automatizar el alta y devolución de préstamos mediante escaneo.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26940"/>
            <a:ext cx="5276850" cy="2785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2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88" name="Google Shape;288;p22"/>
          <p:cNvSpPr txBox="1"/>
          <p:nvPr/>
        </p:nvSpPr>
        <p:spPr>
          <a:xfrm>
            <a:off x="10239375" y="6400800"/>
            <a:ext cx="13716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Fin de la Presentación</a:t>
            </a:r>
            <a:endParaRPr/>
          </a:p>
        </p:txBody>
      </p:sp>
      <p:pic>
        <p:nvPicPr>
          <p:cNvPr id="289" name="Google Shape;289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15362" y="2817465"/>
            <a:ext cx="71437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42527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14709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8689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2"/>
          <p:cNvSpPr txBox="1"/>
          <p:nvPr/>
        </p:nvSpPr>
        <p:spPr>
          <a:xfrm>
            <a:off x="771525" y="48577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9. Conclusiones Personales</a:t>
            </a:r>
            <a:endParaRPr/>
          </a:p>
        </p:txBody>
      </p:sp>
      <p:sp>
        <p:nvSpPr>
          <p:cNvPr id="294" name="Google Shape;294;p22"/>
          <p:cNvSpPr/>
          <p:nvPr/>
        </p:nvSpPr>
        <p:spPr>
          <a:xfrm>
            <a:off x="581025" y="485775"/>
            <a:ext cx="57150" cy="5429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581025" y="2091183"/>
            <a:ext cx="5276850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Este Trabajo de Fin de Grado me ha permitido enfrentarme al ciclo de vida completo de un software profesional: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612255" y="3579465"/>
            <a:ext cx="472059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Objetivo Cumplido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6724650" y="3998565"/>
            <a:ext cx="44958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no es solo un proyecto académico; es una solución real y funcional lista para ser desplegada en producción.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962025" y="3382416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Comprensión profunda de la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arquitectura y patrones de diseño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(MVC, REST, DTOs).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962025" y="4104233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Manejo real de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concurrencia y bases de datos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transaccionales.</a:t>
            </a:r>
            <a:endParaRPr/>
          </a:p>
        </p:txBody>
      </p:sp>
      <p:sp>
        <p:nvSpPr>
          <p:cNvPr id="300" name="Google Shape;300;p22"/>
          <p:cNvSpPr txBox="1"/>
          <p:nvPr/>
        </p:nvSpPr>
        <p:spPr>
          <a:xfrm>
            <a:off x="962025" y="4826049"/>
            <a:ext cx="48958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Valor de escribir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código limpio, escalable</a:t>
            </a: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y protegido contra fallos externos (APIs).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6248400"/>
            <a:ext cx="1102995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0"/>
          <p:cNvSpPr txBox="1"/>
          <p:nvPr/>
        </p:nvSpPr>
        <p:spPr>
          <a:xfrm>
            <a:off x="581025" y="6400800"/>
            <a:ext cx="14954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LudiGest - Defensa TFG</a:t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9372600" y="6400800"/>
            <a:ext cx="22383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Demostración Práctica (Máx. 2 min)</a:t>
            </a:r>
            <a:endParaRPr/>
          </a:p>
        </p:txBody>
      </p:sp>
      <p:pic>
        <p:nvPicPr>
          <p:cNvPr id="252" name="Google Shape;25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379675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4229100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3787" y="4661445"/>
            <a:ext cx="1428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0"/>
          <p:cNvSpPr txBox="1"/>
          <p:nvPr/>
        </p:nvSpPr>
        <p:spPr>
          <a:xfrm>
            <a:off x="1365408" y="1807071"/>
            <a:ext cx="9461182" cy="1009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0EA5E9"/>
                </a:solidFill>
                <a:latin typeface="Poppins"/>
                <a:ea typeface="Poppins"/>
                <a:cs typeface="Poppins"/>
                <a:sym typeface="Poppins"/>
              </a:rPr>
              <a:t>6. DEMOSTRACIÓN EN VIVO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4552950" y="3007221"/>
            <a:ext cx="30861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Flujo Completo de Ejecución</a:t>
            </a:r>
            <a:endParaRPr/>
          </a:p>
        </p:txBody>
      </p:sp>
      <p:sp>
        <p:nvSpPr>
          <p:cNvPr id="257" name="Google Shape;257;p20"/>
          <p:cNvSpPr txBox="1"/>
          <p:nvPr/>
        </p:nvSpPr>
        <p:spPr>
          <a:xfrm>
            <a:off x="4014787" y="3753891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Importación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automatizada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desde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BoardGameGeek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58" name="Google Shape;258;p20"/>
          <p:cNvSpPr txBox="1"/>
          <p:nvPr/>
        </p:nvSpPr>
        <p:spPr>
          <a:xfrm>
            <a:off x="4014787" y="4186237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Creación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de un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Ejemplar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físico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el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inventario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59" name="Google Shape;259;p20"/>
          <p:cNvSpPr txBox="1"/>
          <p:nvPr/>
        </p:nvSpPr>
        <p:spPr>
          <a:xfrm>
            <a:off x="4014787" y="4618583"/>
            <a:ext cx="45434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Filtrado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reactivo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Zero-Lag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el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425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catálogo</a:t>
            </a:r>
            <a:r>
              <a:rPr lang="en-US" sz="1425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principal.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9150" y="4436715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3"/>
          <p:cNvSpPr txBox="1"/>
          <p:nvPr/>
        </p:nvSpPr>
        <p:spPr>
          <a:xfrm>
            <a:off x="2755582" y="2211734"/>
            <a:ext cx="668083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Muchas Gracias</a:t>
            </a:r>
            <a:endParaRPr/>
          </a:p>
        </p:txBody>
      </p:sp>
      <p:sp>
        <p:nvSpPr>
          <p:cNvPr id="308" name="Google Shape;308;p23"/>
          <p:cNvSpPr txBox="1"/>
          <p:nvPr/>
        </p:nvSpPr>
        <p:spPr>
          <a:xfrm>
            <a:off x="4500562" y="3449984"/>
            <a:ext cx="31908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Turno abierto de preguntas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978</Words>
  <Application>Microsoft Office PowerPoint</Application>
  <PresentationFormat>Panorámica</PresentationFormat>
  <Paragraphs>92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Calibri</vt:lpstr>
      <vt:lpstr>Inter</vt:lpstr>
      <vt:lpstr>Arial</vt:lpstr>
      <vt:lpstr>Poppins SemiBold</vt:lpstr>
      <vt:lpstr>Inter SemiBold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Alejandro Muñoz de la Sierra</dc:creator>
  <cp:lastModifiedBy>Alejandro Muñoz de la Sierra</cp:lastModifiedBy>
  <cp:revision>12</cp:revision>
  <dcterms:modified xsi:type="dcterms:W3CDTF">2026-05-06T06:16:49Z</dcterms:modified>
</cp:coreProperties>
</file>