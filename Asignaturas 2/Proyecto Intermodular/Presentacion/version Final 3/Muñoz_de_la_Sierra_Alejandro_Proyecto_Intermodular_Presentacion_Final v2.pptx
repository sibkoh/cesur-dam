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76625" y="4541490"/>
            <a:ext cx="5393998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Alumno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Muñoz de la Sierra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Profesor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Rioja Chocron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Desarrollo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Aplicaciones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Multiplataforma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Cesur | Mayo de 2026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200763" y="2259359"/>
            <a:ext cx="3790473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LudiGest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76587" y="3669059"/>
            <a:ext cx="58388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Plataforma Intermodular de Gestión de Ludotecas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277475" y="6400800"/>
            <a:ext cx="1333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Problema y Objetivos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2050" y="3357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3341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DEL CATÁLOGO]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(Para mostrar cómo se ve el objetivo final cumplido)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777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4995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2213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1. Problema y 2. Objetivos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173875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El Problema Detectado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81025" y="2014983"/>
            <a:ext cx="527685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asociaciones de juegos sufren un caos logístico: inventarios en Excel desactualizados, metadatos tecleados a mano propensos a errores y falta de trazabilidad en los préstamos físicos.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81025" y="3458616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Objetivos de LudiGest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2025" y="373484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Ingesta de datos directa desde la API de BoardGameGeek (BGG).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2025" y="4456658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Física: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Separar la "ficha del juego" de la "caja física" (Ejemplar).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2025" y="517847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Reactividad: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Búsqueda y filtrado instantáneo para socios sin saturar la base de datos.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22DABF-4040-6485-62AD-89B8150DCD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378" y="330744"/>
            <a:ext cx="5270597" cy="29762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02185E-CE40-3867-5A5D-C81F4DAF87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3360834"/>
            <a:ext cx="5289429" cy="26774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9497"/>
            <a:ext cx="3517850" cy="3533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419498"/>
            <a:ext cx="3517850" cy="353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419497"/>
            <a:ext cx="3517850" cy="35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58450" y="6400800"/>
            <a:ext cx="1152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2781448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32275" y="2781448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8250" y="2781448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3. Tecnologías y su Justificación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81025" y="1844278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Decisiones técnicas basadas en el rendimiento, la escalabilidad y la separación de responsabilidades.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76300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Backend: Spring Boot 4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76300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</a:t>
            </a:r>
            <a:r>
              <a:rPr lang="en-US" sz="1425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</a:t>
            </a:r>
            <a:r>
              <a:rPr lang="en-US" sz="14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?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Porque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API RESTful robusta y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segura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Usa Jakarta Validation para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blindar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antes de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guardarlos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aisla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lógica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negocio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4632275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Frontend: JavaFX 21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32275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qué?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Ofrece renderizado por hardware y nos permite separar la vista (.fxml) de la lógica (Controllers), inyectando CSS para un tema "Océano y Coral" unificado.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88250" y="3305323"/>
            <a:ext cx="307366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BD: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MariaDb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10 (MySQL 8) &amp; Hibernate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8388250" y="3762523"/>
            <a:ext cx="2927300" cy="210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</a:t>
            </a:r>
            <a:r>
              <a:rPr lang="en-US" sz="1425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</a:t>
            </a:r>
            <a:r>
              <a:rPr lang="en-US" sz="14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?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MariaDB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asegura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integridad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relacional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(ACID). Hibernate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mapea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nuestros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objetos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Java a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tablas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SQL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automáticamente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ahorrando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código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repetitivo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(Boilerplate).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172700" y="64008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Arquitectura Multicapa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3105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634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852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1070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 Arquitectura del Sistema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81025" y="185305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Cliente - Servidor (N-Tier)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81025" y="2129283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está completamente desacoplado. El frontend podría ser una App Móvil mañana mismo porque el backend es independiente.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62025" y="3188196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Presentación: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JavaFX realiza peticiones HTTP.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62025" y="362054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Control (REST):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Controllers validan y enrutan.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62025" y="4342358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Servicio: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Aquí reside el BggSyncService que piensa y calcula.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62025" y="506417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Persistencia: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Repositories hablan con MySQL.</a:t>
            </a:r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AC8A46C-3C80-17ED-EA5C-64E34AE484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0222" y="143111"/>
            <a:ext cx="2398453" cy="59534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C0C20AD-307A-59AA-DB65-5E9431BB48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7179" y="150976"/>
            <a:ext cx="2728439" cy="59455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068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1068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023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2023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048875" y="6400800"/>
            <a:ext cx="1562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 Entidad-Relación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90550" y="2116335"/>
            <a:ext cx="5353050" cy="428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85800" y="22115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juegos_referencia (La Ficha Teórica)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33425" y="26211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90550" y="28783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733425" y="29640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id_bgg (bigint)UNIQUE (BoardGameGeek)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90550" y="32212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33425" y="33069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titulo, dureza, max_jugadores...Metadatos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6248400" y="2116335"/>
            <a:ext cx="5353050" cy="428625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343650" y="22115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ejemplares (La Caja Física)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391275" y="26211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6248400" y="28783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391275" y="29640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codigo_local (varchar)UNIQUE (Pegatina)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248400" y="32212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391275" y="33069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juego_referencia_id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juegos_referencia(id)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248400" y="35641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391275" y="36498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estado, balda, en_ventaControl físico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590550" y="4211835"/>
            <a:ext cx="5353050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685800" y="43070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usuarios (Socios y Admins)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733425" y="47166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590550" y="49738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733425" y="50595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username, password, rolCredenciales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6248400" y="4211835"/>
            <a:ext cx="5353050" cy="4286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343650" y="43070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prestamos (Transaccional)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391275" y="47166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248400" y="49738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391275" y="50595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ejemplar_id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ejemplares(id)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6248400" y="53167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6391275" y="54024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usuario_id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usuarios(id)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6248400" y="56596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391275" y="57453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fecha_prestamo, fecha_limiteTrazabilidad temporal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5. Estructura de la Base de Datos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581025" y="1626840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Diseño relacional estructurado para evitar redundancia y garantizar la trazabilidad de inventario.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363075" y="6400800"/>
            <a:ext cx="22479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Problemas (Backend)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581025" y="3858369"/>
            <a:ext cx="5276850" cy="12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723900" y="4001244"/>
            <a:ext cx="49911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 Aplicada: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Implementamos un motor de saneamiento en el BggSyncService y escalamos los tipos de datos en la base de datos dinámicamente (`TEXT`, `VARCHAR`). Protegimos el proceso con Pruebas de Integración y @Rollback.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81025" y="3858369"/>
            <a:ext cx="38100" cy="12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9675" y="33575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63341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DEL IMPORTADOR MÁGICO]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(La pantalla donde buscas por nombre y se rellena todo)</a:t>
            </a:r>
            <a:endParaRPr/>
          </a:p>
        </p:txBody>
      </p:sp>
      <p:pic>
        <p:nvPicPr>
          <p:cNvPr id="219" name="Google Shape;21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57085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7. Dificultades y Soluciones (I) - Backend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581025" y="2523232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Reto: Ingesta BGG y Data Truncation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581025" y="2799457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descargar juegos externos, el XML contenía descripciones enormes y símbolos extraños que colapsaban MySQL (</a:t>
            </a:r>
            <a:r>
              <a:rPr lang="en-US" sz="1425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Truncation Exception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F1EFBD3-0629-C6FA-691C-A1994BA6A8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650" y="2154810"/>
            <a:ext cx="6084806" cy="33284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353550" y="6400800"/>
            <a:ext cx="2257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Problemas (Frontend)</a:t>
            </a:r>
            <a:endParaRPr/>
          </a:p>
        </p:txBody>
      </p:sp>
      <p:pic>
        <p:nvPicPr>
          <p:cNvPr id="233" name="Google Shape;23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2762" y="33575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5810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 LA GESTIÓN DE SOCIOS]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(Para mostrar una interfaz compleja cargada de datos)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334125" y="3808958"/>
            <a:ext cx="5276850" cy="1066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496050" y="3894682"/>
            <a:ext cx="49911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b="0" i="0" u="none" strike="noStrike" cap="none" dirty="0" err="1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Aplicada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s-ES" sz="1200" dirty="0">
                <a:solidFill>
                  <a:schemeClr val="bg1"/>
                </a:solidFill>
              </a:rPr>
              <a:t>mplementamos un modelo asíncrono basado en </a:t>
            </a:r>
            <a:r>
              <a:rPr lang="es-ES" sz="1200" b="1" dirty="0">
                <a:solidFill>
                  <a:schemeClr val="bg1"/>
                </a:solidFill>
              </a:rPr>
              <a:t>promesas</a:t>
            </a:r>
            <a:r>
              <a:rPr lang="es-ES" sz="1200" dirty="0">
                <a:solidFill>
                  <a:schemeClr val="bg1"/>
                </a:solidFill>
              </a:rPr>
              <a:t>, delegando la gestión de red al cliente nativo </a:t>
            </a:r>
            <a:r>
              <a:rPr lang="es-ES" sz="1200" b="1" dirty="0" err="1">
                <a:solidFill>
                  <a:schemeClr val="bg1"/>
                </a:solidFill>
              </a:rPr>
              <a:t>HttpClient</a:t>
            </a:r>
            <a:r>
              <a:rPr lang="es-ES" sz="1200" dirty="0">
                <a:solidFill>
                  <a:schemeClr val="bg1"/>
                </a:solidFill>
              </a:rPr>
              <a:t> mediante su método </a:t>
            </a:r>
            <a:r>
              <a:rPr lang="es-ES" sz="1200" b="1" dirty="0" err="1">
                <a:solidFill>
                  <a:schemeClr val="bg1"/>
                </a:solidFill>
              </a:rPr>
              <a:t>sendAsync</a:t>
            </a:r>
            <a:r>
              <a:rPr lang="es-ES" sz="1200" b="1" dirty="0">
                <a:solidFill>
                  <a:schemeClr val="bg1"/>
                </a:solidFill>
              </a:rPr>
              <a:t> 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devolvimos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resultados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de forma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segura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 la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pantalla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usando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Platform.runLater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().</a:t>
            </a:r>
            <a:endParaRPr dirty="0"/>
          </a:p>
        </p:txBody>
      </p:sp>
      <p:sp>
        <p:nvSpPr>
          <p:cNvPr id="237" name="Google Shape;237;p19"/>
          <p:cNvSpPr/>
          <p:nvPr/>
        </p:nvSpPr>
        <p:spPr>
          <a:xfrm>
            <a:off x="6334125" y="3808958"/>
            <a:ext cx="38100" cy="1066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810916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7. Dificultades y Soluciones (II) - Frontend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334125" y="2763291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Reto: Congelación de la Interfaz (UI Freeze)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334125" y="3039516"/>
            <a:ext cx="5276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realizar peticiones de red pesadas, la interfaz de JavaFX se congelaba y el usuario no podía interactuar.</a:t>
            </a: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93B417-969F-0EE6-3205-E9476E7B7A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68" y="2148550"/>
            <a:ext cx="6008765" cy="36960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9372600" y="640080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Demostración Práctica (Máx. 2 min)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379675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42291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4661445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1365408" y="1807071"/>
            <a:ext cx="9461182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6. DEMOSTRACIÓN EN VIVO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552950" y="3007221"/>
            <a:ext cx="3086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Flujo Completo de Ejecución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4014787" y="3753891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Importación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automatizada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BoardGameGeek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58" name="Google Shape;258;p20"/>
          <p:cNvSpPr txBox="1"/>
          <p:nvPr/>
        </p:nvSpPr>
        <p:spPr>
          <a:xfrm>
            <a:off x="4014787" y="4186237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Creación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un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Ejemplar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físico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inventario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59" name="Google Shape;259;p20"/>
          <p:cNvSpPr txBox="1"/>
          <p:nvPr/>
        </p:nvSpPr>
        <p:spPr>
          <a:xfrm>
            <a:off x="4014787" y="4618583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Filtrado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reactivo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Zero-Lag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catálogo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principal.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21433"/>
            <a:ext cx="5395912" cy="2796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421433"/>
            <a:ext cx="5395912" cy="2796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9963150" y="6400800"/>
            <a:ext cx="1647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Escalabilidad del Proyecto</a:t>
            </a:r>
            <a:endParaRPr/>
          </a:p>
        </p:txBody>
      </p:sp>
      <p:pic>
        <p:nvPicPr>
          <p:cNvPr id="271" name="Google Shape;27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83383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0337" y="278338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8. Mejoras Futuras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876300" y="3307258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App Móvil para Socios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76300" y="3764458"/>
            <a:ext cx="4805362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tener una API REST completamente desacoplada, el siguiente paso lógico es desarrollar un cliente en Kotlin o Flutter para que los socios consulten el catálogo desde su bolsillo.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510337" y="3307258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Sistema Kiosko (Código de Barras)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510337" y="3764458"/>
            <a:ext cx="4805362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Aprovechar el campo codigo_local de los ejemplares para integrar un lector óptico, permitiendo automatizar el alta y devolución de préstamos mediante escaneo.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26940"/>
            <a:ext cx="5276850" cy="278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10239375" y="6400800"/>
            <a:ext cx="13716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 de la Presentación</a:t>
            </a:r>
            <a:endParaRPr/>
          </a:p>
        </p:txBody>
      </p:sp>
      <p:pic>
        <p:nvPicPr>
          <p:cNvPr id="289" name="Google Shape;28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15362" y="2817465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42527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470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8689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9. Conclusiones Personales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81025" y="2091183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Este Trabajo de Fin de Grado me ha permitido enfrentarme al ciclo de vida completo de un software profesional: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612255" y="3579465"/>
            <a:ext cx="47205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Objetivo Cumplido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724650" y="3998565"/>
            <a:ext cx="44958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no es solo un proyecto académico; es una solución real y funcional lista para ser desplegada en producción.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62025" y="3382416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Comprensión profunda de la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y patrones de diseño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(MVC, REST, DTOs).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62025" y="4104233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Manejo real de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concurrencia y bases de datos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transaccionales.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962025" y="4826049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Valor de escribir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 limpio, escalable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protegido contra fallos externos (APIs).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9150" y="443671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2755582" y="2211734"/>
            <a:ext cx="66808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4500562" y="3449984"/>
            <a:ext cx="31908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Turno abierto de preguntas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986</Words>
  <Application>Microsoft Office PowerPoint</Application>
  <PresentationFormat>Panorámica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Inter SemiBold</vt:lpstr>
      <vt:lpstr>Poppins</vt:lpstr>
      <vt:lpstr>Inter</vt:lpstr>
      <vt:lpstr>Poppins SemiBold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Alejandro Muñoz de la Sierra</dc:creator>
  <cp:lastModifiedBy>Alejandro Muñoz de la Sierra</cp:lastModifiedBy>
  <cp:revision>17</cp:revision>
  <dcterms:modified xsi:type="dcterms:W3CDTF">2026-05-11T08:43:31Z</dcterms:modified>
</cp:coreProperties>
</file>