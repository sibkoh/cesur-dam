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Poppins"/>
      <p:regular r:id="rId25"/>
      <p:bold r:id="rId26"/>
      <p:italic r:id="rId27"/>
      <p:boldItalic r:id="rId28"/>
    </p:embeddedFont>
    <p:embeddedFont>
      <p:font typeface="Poppins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SemiBold-italic.fntdata"/><Relationship Id="rId30" Type="http://schemas.openxmlformats.org/officeDocument/2006/relationships/font" Target="fonts/PoppinsSemi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PoppinsSemiBol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1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9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24.png"/><Relationship Id="rId7" Type="http://schemas.openxmlformats.org/officeDocument/2006/relationships/image" Target="../media/image2.png"/><Relationship Id="rId8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11" Type="http://schemas.openxmlformats.org/officeDocument/2006/relationships/image" Target="../media/image19.png"/><Relationship Id="rId10" Type="http://schemas.openxmlformats.org/officeDocument/2006/relationships/image" Target="../media/image11.png"/><Relationship Id="rId9" Type="http://schemas.openxmlformats.org/officeDocument/2006/relationships/image" Target="../media/image6.png"/><Relationship Id="rId5" Type="http://schemas.openxmlformats.org/officeDocument/2006/relationships/image" Target="../media/image33.png"/><Relationship Id="rId6" Type="http://schemas.openxmlformats.org/officeDocument/2006/relationships/image" Target="../media/image13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10" Type="http://schemas.openxmlformats.org/officeDocument/2006/relationships/image" Target="../media/image30.png"/><Relationship Id="rId9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34.png"/><Relationship Id="rId7" Type="http://schemas.openxmlformats.org/officeDocument/2006/relationships/image" Target="../media/image21.png"/><Relationship Id="rId8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9" Type="http://schemas.openxmlformats.org/officeDocument/2006/relationships/image" Target="../media/image4.png"/><Relationship Id="rId5" Type="http://schemas.openxmlformats.org/officeDocument/2006/relationships/image" Target="../media/image26.png"/><Relationship Id="rId6" Type="http://schemas.openxmlformats.org/officeDocument/2006/relationships/image" Target="../media/image23.png"/><Relationship Id="rId7" Type="http://schemas.openxmlformats.org/officeDocument/2006/relationships/image" Target="../media/image36.png"/><Relationship Id="rId8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4.png"/><Relationship Id="rId6" Type="http://schemas.openxmlformats.org/officeDocument/2006/relationships/image" Target="../media/image27.png"/><Relationship Id="rId7" Type="http://schemas.openxmlformats.org/officeDocument/2006/relationships/image" Target="../media/image5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1.png"/><Relationship Id="rId4" Type="http://schemas.openxmlformats.org/officeDocument/2006/relationships/image" Target="../media/image22.png"/><Relationship Id="rId5" Type="http://schemas.openxmlformats.org/officeDocument/2006/relationships/image" Target="../media/image4.png"/><Relationship Id="rId6" Type="http://schemas.openxmlformats.org/officeDocument/2006/relationships/image" Target="../media/image29.png"/><Relationship Id="rId7" Type="http://schemas.openxmlformats.org/officeDocument/2006/relationships/image" Target="../media/image3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5.png"/><Relationship Id="rId4" Type="http://schemas.openxmlformats.org/officeDocument/2006/relationships/image" Target="../media/image37.png"/><Relationship Id="rId5" Type="http://schemas.openxmlformats.org/officeDocument/2006/relationships/image" Target="../media/image4.png"/><Relationship Id="rId6" Type="http://schemas.openxmlformats.org/officeDocument/2006/relationships/image" Target="../media/image4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2.png"/><Relationship Id="rId9" Type="http://schemas.openxmlformats.org/officeDocument/2006/relationships/image" Target="../media/image39.png"/><Relationship Id="rId5" Type="http://schemas.openxmlformats.org/officeDocument/2006/relationships/image" Target="../media/image44.png"/><Relationship Id="rId6" Type="http://schemas.openxmlformats.org/officeDocument/2006/relationships/image" Target="../media/image41.png"/><Relationship Id="rId7" Type="http://schemas.openxmlformats.org/officeDocument/2006/relationships/image" Target="../media/image4.png"/><Relationship Id="rId8" Type="http://schemas.openxmlformats.org/officeDocument/2006/relationships/image" Target="../media/image4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8.png"/><Relationship Id="rId5" Type="http://schemas.openxmlformats.org/officeDocument/2006/relationships/image" Target="../media/image47.png"/><Relationship Id="rId6" Type="http://schemas.openxmlformats.org/officeDocument/2006/relationships/image" Target="../media/image4.png"/><Relationship Id="rId7" Type="http://schemas.openxmlformats.org/officeDocument/2006/relationships/image" Target="../media/image38.png"/><Relationship Id="rId8" Type="http://schemas.openxmlformats.org/officeDocument/2006/relationships/image" Target="../media/image4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3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2925" y="1716434"/>
            <a:ext cx="348615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476625" y="4541490"/>
            <a:ext cx="52387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Alumno: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Alejandro Muñoz de la Sierra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Profesor: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Alejandro Rioja Chocron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Desarrollo de Aplicaciones Multiplataforma | 11 de Mayo de 2026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91050" y="1830734"/>
            <a:ext cx="1524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200763" y="2259359"/>
            <a:ext cx="3790473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75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LudiGest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176587" y="3669059"/>
            <a:ext cx="58388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Plataforma Intermodular de Gestión de Ludotecas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10775" y="295275"/>
            <a:ext cx="16002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277475" y="6400800"/>
            <a:ext cx="1333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Problema y Objetivos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82050" y="33575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6334125" y="3881437"/>
            <a:ext cx="52768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[INSERTA AQUÍ LA CAPTURA DEL CATÁLOGO]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(Para mostrar cómo se ve el objetivo final cumplido)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777704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49952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522133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1. Problema y 2. Objetivos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581025" y="1738758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B7185"/>
                </a:solidFill>
                <a:latin typeface="Poppins"/>
                <a:ea typeface="Poppins"/>
                <a:cs typeface="Poppins"/>
                <a:sym typeface="Poppins"/>
              </a:rPr>
              <a:t>El Problema Detectado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81025" y="2014983"/>
            <a:ext cx="5276850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Las asociaciones de juegos sufren un caos logístico: inventarios en Excel desactualizados, metadatos tecleados a mano propensos a errores y falta de trazabilidad en los préstamos físicos.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81025" y="3458616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Objetivos de LudiGest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62025" y="3734841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Automatización: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Ingesta de datos directa desde la API de BoardGameGeek (BGG).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62025" y="4456658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Trazabilidad Física: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Separar la "ficha del juego" de la "caja física" (Ejemplar).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62025" y="5178474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Reactividad: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Búsqueda y filtrado instantáneo para socios sin saturar la base de datos.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39375" y="295275"/>
            <a:ext cx="1371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419498"/>
            <a:ext cx="3517850" cy="33751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37000" y="2419498"/>
            <a:ext cx="3517850" cy="33751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2975" y="2419498"/>
            <a:ext cx="3517850" cy="33751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458450" y="6400800"/>
            <a:ext cx="11525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Stack Tecnológico</a:t>
            </a:r>
            <a:endParaRPr/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6300" y="2781448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32275" y="2781448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88250" y="2781448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3. Tecnologías y su Justificación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581025" y="1844278"/>
            <a:ext cx="110299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Decisiones técnicas basadas en el rendimiento, la escalabilidad y la separación de responsabilidades.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876300" y="3305323"/>
            <a:ext cx="307366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Backend: Spring Boot 4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76300" y="3762523"/>
            <a:ext cx="2927300" cy="1736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¿Por qué?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Porque permite crear una API RESTful robusta y segura. Usa Jakarta Validation para blindar los datos antes de guardarlos y aisla la lógica de negocio.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4632275" y="3305323"/>
            <a:ext cx="307366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Frontend: JavaFX 21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4632275" y="3762523"/>
            <a:ext cx="2927300" cy="1736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¿Por qué?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Ofrece renderizado por hardware y nos permite separar la vista (.fxml) de la lógica (Controllers), inyectando CSS para un tema "Océano y Coral" unificado.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388250" y="3305323"/>
            <a:ext cx="307366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BD: MySQL 8 &amp; Hibernate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388250" y="3762523"/>
            <a:ext cx="2927300" cy="1736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¿Por qué?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MySQL asegura integridad relacional (ACID). Hibernate mapea nuestros objetos Java a tablas SQL automáticamente, ahorrando código repetitivo (Boilerplate).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39375" y="295275"/>
            <a:ext cx="1371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0172700" y="6400800"/>
            <a:ext cx="14382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Arquitectura Multicapa</a:t>
            </a:r>
            <a:endParaRPr/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58237" y="325755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6334125" y="3781425"/>
            <a:ext cx="52768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[INSERTA AQUÍ LA CAPTURA DE LAS CARPETAS DEL PROYECTO]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(Las capturas de tu Eclipse mostrando model, service, controller, etc.)</a:t>
            </a:r>
            <a:endParaRPr/>
          </a:p>
        </p:txBody>
      </p:sp>
      <p:pic>
        <p:nvPicPr>
          <p:cNvPr descr="image.png" id="147" name="Google Shape;14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231058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3663404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438522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1025" y="510703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4. Arquitectura del Sistema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581025" y="1853058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Cliente - Servidor (N-Tier)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581025" y="2129283"/>
            <a:ext cx="52768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está completamente desacoplado. El frontend podría ser una App Móvil mañana mismo porque el backend es independiente.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62025" y="3188196"/>
            <a:ext cx="48958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Capa de Presentación: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JavaFX realiza peticiones HTTP.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62025" y="3620541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Capa de Control (REST):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Los Controllers validan y enrutan.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62025" y="4342358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Capa de Servicio: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Aquí reside el BggSyncService que piensa y calcula.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962025" y="5064174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Capa de Persistencia: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Los Repositories hablan con MySQL.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48900" y="295275"/>
            <a:ext cx="1362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106810"/>
            <a:ext cx="53721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106810"/>
            <a:ext cx="53721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202310"/>
            <a:ext cx="53721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38875" y="4202310"/>
            <a:ext cx="53721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10048875" y="6400800"/>
            <a:ext cx="1562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Modelo Entidad-Relación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590550" y="2116335"/>
            <a:ext cx="5353050" cy="4286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685800" y="2211585"/>
            <a:ext cx="51625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juegos_referencia (La Ficha Teórica)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733425" y="26211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PK id (bigint)</a:t>
            </a:r>
            <a:r>
              <a:rPr b="0" i="0" lang="en-US" sz="11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Clave Primaria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590550" y="28783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733425" y="29640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id_bgg (bigint)UNIQUE (BoardGameGeek)</a:t>
            </a: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590550" y="32212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733425" y="3306960"/>
            <a:ext cx="50673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titulo, dureza, max_jugadores...Metadatos</a:t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6248400" y="2116335"/>
            <a:ext cx="5353050" cy="428625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6343650" y="2211585"/>
            <a:ext cx="51625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ejemplares (La Caja Física)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6391275" y="26211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PK id (bigint)</a:t>
            </a:r>
            <a:r>
              <a:rPr b="0" i="0" lang="en-US" sz="11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Clave Primaria</a:t>
            </a: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6248400" y="28783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6391275" y="29640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codigo_local (varchar)UNIQUE (Pegatina)</a:t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6248400" y="32212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6391275" y="33069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FK juego_referencia_id</a:t>
            </a:r>
            <a:r>
              <a:rPr b="0" i="0" lang="en-US" sz="11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-&gt; juegos_referencia(id)</a:t>
            </a:r>
            <a:endParaRPr/>
          </a:p>
        </p:txBody>
      </p:sp>
      <p:sp>
        <p:nvSpPr>
          <p:cNvPr id="186" name="Google Shape;186;p17"/>
          <p:cNvSpPr/>
          <p:nvPr/>
        </p:nvSpPr>
        <p:spPr>
          <a:xfrm>
            <a:off x="6248400" y="35641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6391275" y="3649860"/>
            <a:ext cx="50673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estado, balda, en_ventaControl físico</a:t>
            </a:r>
            <a:endParaRPr/>
          </a:p>
        </p:txBody>
      </p:sp>
      <p:sp>
        <p:nvSpPr>
          <p:cNvPr id="188" name="Google Shape;188;p17"/>
          <p:cNvSpPr/>
          <p:nvPr/>
        </p:nvSpPr>
        <p:spPr>
          <a:xfrm>
            <a:off x="590550" y="4211835"/>
            <a:ext cx="5353050" cy="428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685800" y="4307085"/>
            <a:ext cx="51625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usuarios (Socios y Admins)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733425" y="47166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PK id (bigint)</a:t>
            </a:r>
            <a:r>
              <a:rPr b="0" i="0" lang="en-US" sz="11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Clave Primaria</a:t>
            </a:r>
            <a:endParaRPr/>
          </a:p>
        </p:txBody>
      </p:sp>
      <p:sp>
        <p:nvSpPr>
          <p:cNvPr id="191" name="Google Shape;191;p17"/>
          <p:cNvSpPr/>
          <p:nvPr/>
        </p:nvSpPr>
        <p:spPr>
          <a:xfrm>
            <a:off x="590550" y="49738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733425" y="5059560"/>
            <a:ext cx="50673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username, password, rolCredenciales</a:t>
            </a:r>
            <a:endParaRPr/>
          </a:p>
        </p:txBody>
      </p:sp>
      <p:sp>
        <p:nvSpPr>
          <p:cNvPr id="193" name="Google Shape;193;p17"/>
          <p:cNvSpPr/>
          <p:nvPr/>
        </p:nvSpPr>
        <p:spPr>
          <a:xfrm>
            <a:off x="6248400" y="4211835"/>
            <a:ext cx="5353050" cy="4286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6343650" y="4307085"/>
            <a:ext cx="51625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prestamos (Transaccional)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6391275" y="47166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PK id (bigint)</a:t>
            </a:r>
            <a:r>
              <a:rPr b="0" i="0" lang="en-US" sz="11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Clave Primaria</a:t>
            </a:r>
            <a:endParaRPr/>
          </a:p>
        </p:txBody>
      </p:sp>
      <p:sp>
        <p:nvSpPr>
          <p:cNvPr id="196" name="Google Shape;196;p17"/>
          <p:cNvSpPr/>
          <p:nvPr/>
        </p:nvSpPr>
        <p:spPr>
          <a:xfrm>
            <a:off x="6248400" y="49738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6391275" y="50595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FK ejemplar_id</a:t>
            </a:r>
            <a:r>
              <a:rPr b="0" i="0" lang="en-US" sz="11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-&gt; ejemplares(id)</a:t>
            </a:r>
            <a:endParaRPr/>
          </a:p>
        </p:txBody>
      </p:sp>
      <p:sp>
        <p:nvSpPr>
          <p:cNvPr id="198" name="Google Shape;198;p17"/>
          <p:cNvSpPr/>
          <p:nvPr/>
        </p:nvSpPr>
        <p:spPr>
          <a:xfrm>
            <a:off x="6248400" y="53167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6391275" y="54024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FK usuario_id</a:t>
            </a:r>
            <a:r>
              <a:rPr b="0" i="0" lang="en-US" sz="11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-&gt; usuarios(id)</a:t>
            </a:r>
            <a:endParaRPr/>
          </a:p>
        </p:txBody>
      </p:sp>
      <p:sp>
        <p:nvSpPr>
          <p:cNvPr id="200" name="Google Shape;200;p17"/>
          <p:cNvSpPr/>
          <p:nvPr/>
        </p:nvSpPr>
        <p:spPr>
          <a:xfrm>
            <a:off x="6248400" y="56596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6391275" y="5745360"/>
            <a:ext cx="50673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fecha_prestamo, fecha_limiteTrazabilidad temporal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5. Estructura de la Base de Datos</a:t>
            </a:r>
            <a:endParaRPr/>
          </a:p>
        </p:txBody>
      </p:sp>
      <p:sp>
        <p:nvSpPr>
          <p:cNvPr id="203" name="Google Shape;203;p17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581025" y="1626840"/>
            <a:ext cx="110299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Diseño relacional estructurado para evitar redundancia y garantizar la trazabilidad de inventario.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48900" y="295275"/>
            <a:ext cx="1362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9363075" y="6400800"/>
            <a:ext cx="22479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Resolución de Problemas (Backend)</a:t>
            </a:r>
            <a:endParaRPr/>
          </a:p>
        </p:txBody>
      </p:sp>
      <p:sp>
        <p:nvSpPr>
          <p:cNvPr id="214" name="Google Shape;214;p18"/>
          <p:cNvSpPr/>
          <p:nvPr/>
        </p:nvSpPr>
        <p:spPr>
          <a:xfrm>
            <a:off x="581025" y="3858369"/>
            <a:ext cx="5276850" cy="12573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 txBox="1"/>
          <p:nvPr/>
        </p:nvSpPr>
        <p:spPr>
          <a:xfrm>
            <a:off x="723900" y="4001244"/>
            <a:ext cx="49911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Solución Aplicada: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Implementamos un motor de saneamiento en el BggSyncService y escalamos los tipos de datos en la base de datos dinámicamente (`TEXT`, `VARCHAR`). Protegimos el proceso con Pruebas de Integración y @Rollback.</a:t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581025" y="3858369"/>
            <a:ext cx="38100" cy="12573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7" name="Google Shape;21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9675" y="3357562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 txBox="1"/>
          <p:nvPr/>
        </p:nvSpPr>
        <p:spPr>
          <a:xfrm>
            <a:off x="6334125" y="3881437"/>
            <a:ext cx="52768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[INSERTA AQUÍ LA CAPTURA DEL IMPORTADOR MÁGICO]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(La pantalla donde buscas por nombre y se rellena todo)</a:t>
            </a:r>
            <a:endParaRPr/>
          </a:p>
        </p:txBody>
      </p:sp>
      <p:pic>
        <p:nvPicPr>
          <p:cNvPr descr="image.png" id="219" name="Google Shape;21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2570857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8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7. Dificultades y Soluciones (I) - Backend</a:t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581025" y="2523232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B7185"/>
                </a:solidFill>
                <a:latin typeface="Poppins"/>
                <a:ea typeface="Poppins"/>
                <a:cs typeface="Poppins"/>
                <a:sym typeface="Poppins"/>
              </a:rPr>
              <a:t>Reto: Ingesta BGG y Data Truncation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581025" y="2799457"/>
            <a:ext cx="52768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 descargar juegos externos, el XML contenía descripciones enormes y símbolos extraños que colapsaban MySQL (</a:t>
            </a:r>
            <a:r>
              <a:rPr b="0" i="1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 Truncation Exception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48900" y="295275"/>
            <a:ext cx="1362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9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9353550" y="6400800"/>
            <a:ext cx="22574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Resolución de Problemas (Frontend)</a:t>
            </a:r>
            <a:endParaRPr/>
          </a:p>
        </p:txBody>
      </p:sp>
      <p:pic>
        <p:nvPicPr>
          <p:cNvPr descr="image.png" id="233" name="Google Shape;23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52762" y="335756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9"/>
          <p:cNvSpPr txBox="1"/>
          <p:nvPr/>
        </p:nvSpPr>
        <p:spPr>
          <a:xfrm>
            <a:off x="581025" y="3881437"/>
            <a:ext cx="52768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[INSERTA AQUÍ LA CAPTURA DE LA GESTIÓN DE SOCIOS]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(Para mostrar una interfaz compleja cargada de datos)</a:t>
            </a:r>
            <a:endParaRPr/>
          </a:p>
        </p:txBody>
      </p:sp>
      <p:sp>
        <p:nvSpPr>
          <p:cNvPr id="235" name="Google Shape;235;p19"/>
          <p:cNvSpPr/>
          <p:nvPr/>
        </p:nvSpPr>
        <p:spPr>
          <a:xfrm>
            <a:off x="6334125" y="3808958"/>
            <a:ext cx="5276850" cy="1066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6477000" y="3951833"/>
            <a:ext cx="49911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Solución Aplicada: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Implementación estricta de multithreading. Usamos Task para aislar las llamadas HTTP en hilos secundarios, y devolvimos los resultados de forma segura a la pantalla usando Platform.runLater().</a:t>
            </a:r>
            <a:endParaRPr/>
          </a:p>
        </p:txBody>
      </p:sp>
      <p:sp>
        <p:nvSpPr>
          <p:cNvPr id="237" name="Google Shape;237;p19"/>
          <p:cNvSpPr/>
          <p:nvPr/>
        </p:nvSpPr>
        <p:spPr>
          <a:xfrm>
            <a:off x="6334125" y="3808958"/>
            <a:ext cx="38100" cy="1066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8" name="Google Shape;23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2810916"/>
            <a:ext cx="152400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9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7. Dificultades y Soluciones (II) - Frontend</a:t>
            </a:r>
            <a:endParaRPr/>
          </a:p>
        </p:txBody>
      </p:sp>
      <p:sp>
        <p:nvSpPr>
          <p:cNvPr id="240" name="Google Shape;240;p19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6334125" y="2763291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Reto: Congelación de la Interfaz (UI Freeze)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6334125" y="3039516"/>
            <a:ext cx="52768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 realizar peticiones de red pesadas, la interfaz de JavaFX se congelaba y el usuario no podía interactuar.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39375" y="295275"/>
            <a:ext cx="1371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0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9372600" y="6400800"/>
            <a:ext cx="2238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Demostración Práctica (Máx. 2 min)</a:t>
            </a:r>
            <a:endParaRPr/>
          </a:p>
        </p:txBody>
      </p:sp>
      <p:pic>
        <p:nvPicPr>
          <p:cNvPr descr="image.png" id="252" name="Google Shape;25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33787" y="3796754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33787" y="4229100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33787" y="4661445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0"/>
          <p:cNvSpPr txBox="1"/>
          <p:nvPr/>
        </p:nvSpPr>
        <p:spPr>
          <a:xfrm>
            <a:off x="1365408" y="1807071"/>
            <a:ext cx="9461182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6. DEMOSTRACIÓN EN VIVO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4552950" y="3007221"/>
            <a:ext cx="30861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Flujo Completo de Ejecución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4014787" y="3753891"/>
            <a:ext cx="45434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1. Importación automatizada desde BoardGameGeek.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4014787" y="4186237"/>
            <a:ext cx="45434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2. Creación de un Ejemplar físico en el inventario.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4014787" y="4618583"/>
            <a:ext cx="45434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3. Filtrado reactivo Zero-Lag en el catálogo principal.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39375" y="295275"/>
            <a:ext cx="1371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421433"/>
            <a:ext cx="5395912" cy="2796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2421433"/>
            <a:ext cx="5395912" cy="2796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1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9963150" y="6400800"/>
            <a:ext cx="16478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Escalabilidad del Proyecto</a:t>
            </a:r>
            <a:endParaRPr/>
          </a:p>
        </p:txBody>
      </p:sp>
      <p:pic>
        <p:nvPicPr>
          <p:cNvPr descr="image.png" id="271" name="Google Shape;27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300" y="2783383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10337" y="2783383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1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8. Mejoras Futuras</a:t>
            </a:r>
            <a:endParaRPr/>
          </a:p>
        </p:txBody>
      </p:sp>
      <p:sp>
        <p:nvSpPr>
          <p:cNvPr id="274" name="Google Shape;274;p21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876300" y="3307258"/>
            <a:ext cx="504563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App Móvil para Socios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876300" y="3764458"/>
            <a:ext cx="4805362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 tener una API REST completamente desacoplada, el siguiente paso lógico es desarrollar un cliente en Kotlin o Flutter para que los socios consulten el catálogo desde su bolsillo.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6510337" y="3307258"/>
            <a:ext cx="504563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Sistema Kiosko (Código de Barras)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6510337" y="3764458"/>
            <a:ext cx="4805362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Aprovechar el campo codigo_local de los ejemplares para integrar un lector óptico, permitiendo automatizar el alta y devolución de préstamos mediante escaneo.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39375" y="295275"/>
            <a:ext cx="1371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26940"/>
            <a:ext cx="5276850" cy="27850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2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10239375" y="6400800"/>
            <a:ext cx="13716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Fin de la Presentación</a:t>
            </a:r>
            <a:endParaRPr/>
          </a:p>
        </p:txBody>
      </p:sp>
      <p:pic>
        <p:nvPicPr>
          <p:cNvPr descr="image.png" id="289" name="Google Shape;28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15362" y="2817465"/>
            <a:ext cx="71437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3425279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14709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86891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2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9. Conclusiones Personales</a:t>
            </a:r>
            <a:endParaRPr/>
          </a:p>
        </p:txBody>
      </p:sp>
      <p:sp>
        <p:nvSpPr>
          <p:cNvPr id="294" name="Google Shape;294;p22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 txBox="1"/>
          <p:nvPr/>
        </p:nvSpPr>
        <p:spPr>
          <a:xfrm>
            <a:off x="581025" y="2091183"/>
            <a:ext cx="52768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Este Trabajo de Fin de Grado me ha permitido enfrentarme al ciclo de vida completo de un software profesional: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6612255" y="3579465"/>
            <a:ext cx="472059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Objetivo Cumplido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6724650" y="3998565"/>
            <a:ext cx="44958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no es solo un proyecto académico; es una solución real y funcional lista para ser desplegada en producción.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962025" y="3382416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Comprensión profunda de la </a:t>
            </a: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arquitectura y patrones de diseño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(MVC, REST, DTOs).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962025" y="4104233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Manejo real de </a:t>
            </a: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concurrencia y bases de datos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transaccionales.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962025" y="4826049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Valor de escribir </a:t>
            </a: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código limpio, escalable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y protegido contra fallos externos (APIs).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5" name="Google Shape;30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9150" y="4436715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3"/>
          <p:cNvSpPr txBox="1"/>
          <p:nvPr/>
        </p:nvSpPr>
        <p:spPr>
          <a:xfrm>
            <a:off x="2755582" y="2211734"/>
            <a:ext cx="668083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Muchas Gracias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4500562" y="3449984"/>
            <a:ext cx="31908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Turno abierto de preguntas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